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9161f3fb314b93" /><Relationship Type="http://schemas.openxmlformats.org/officeDocument/2006/relationships/extended-properties" Target="/docProps/app.xml" Id="R10eb354c24cc43d9" /><Relationship Type="http://schemas.openxmlformats.org/officeDocument/2006/relationships/officeDocument" Target="/ppt/presentation.xml" Id="R1bd8476fa27d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72ea745464272"/>
  </p:sldMasterIdLst>
  <p:notesMasterIdLst>
    <p:notesMasterId xmlns:r="http://schemas.openxmlformats.org/officeDocument/2006/relationships" r:id="R147fa82947234543"/>
  </p:notesMasterIdLst>
  <p:sldIdLst>
    <p:sldId xmlns:r="http://schemas.openxmlformats.org/officeDocument/2006/relationships" id="256" r:id="Ra139de0aa8954039"/>
    <p:sldId xmlns:r="http://schemas.openxmlformats.org/officeDocument/2006/relationships" id="257" r:id="R7381e92bd2b84e17"/>
    <p:sldId xmlns:r="http://schemas.openxmlformats.org/officeDocument/2006/relationships" id="258" r:id="Ra8514f84bc134d1d"/>
    <p:sldId xmlns:r="http://schemas.openxmlformats.org/officeDocument/2006/relationships" id="259" r:id="Rd33c2e1b76ee48f0"/>
    <p:sldId xmlns:r="http://schemas.openxmlformats.org/officeDocument/2006/relationships" id="260" r:id="Rbe96ec5b2e444aae"/>
    <p:sldId xmlns:r="http://schemas.openxmlformats.org/officeDocument/2006/relationships" id="261" r:id="Rc66772aa82554fa2"/>
    <p:sldId xmlns:r="http://schemas.openxmlformats.org/officeDocument/2006/relationships" id="262" r:id="R3a7fb6f2303f4184"/>
    <p:sldId xmlns:r="http://schemas.openxmlformats.org/officeDocument/2006/relationships" id="263" r:id="R94181c2d6661475d"/>
    <p:sldId xmlns:r="http://schemas.openxmlformats.org/officeDocument/2006/relationships" id="264" r:id="R25aab5e0674f42d7"/>
    <p:sldId xmlns:r="http://schemas.openxmlformats.org/officeDocument/2006/relationships" id="265" r:id="Rdb5c2aea70d44203"/>
    <p:sldId xmlns:r="http://schemas.openxmlformats.org/officeDocument/2006/relationships" id="266" r:id="Rf579fe8a84d04a99"/>
    <p:sldId xmlns:r="http://schemas.openxmlformats.org/officeDocument/2006/relationships" id="267" r:id="R640fe6ca315648b7"/>
    <p:sldId xmlns:r="http://schemas.openxmlformats.org/officeDocument/2006/relationships" id="268" r:id="Ra378282e29234cfa"/>
    <p:sldId xmlns:r="http://schemas.openxmlformats.org/officeDocument/2006/relationships" id="269" r:id="R7598f57a04bd402d"/>
    <p:sldId xmlns:r="http://schemas.openxmlformats.org/officeDocument/2006/relationships" id="270" r:id="R8231984abe9d412b"/>
    <p:sldId xmlns:r="http://schemas.openxmlformats.org/officeDocument/2006/relationships" id="271" r:id="R6aa9dd4b3a544d85"/>
    <p:sldId xmlns:r="http://schemas.openxmlformats.org/officeDocument/2006/relationships" id="272" r:id="Raf795de670594428"/>
    <p:sldId xmlns:r="http://schemas.openxmlformats.org/officeDocument/2006/relationships" id="273" r:id="R8769282fbaa64e82"/>
    <p:sldId xmlns:r="http://schemas.openxmlformats.org/officeDocument/2006/relationships" id="274" r:id="R29d7dd8e14304ba1"/>
    <p:sldId xmlns:r="http://schemas.openxmlformats.org/officeDocument/2006/relationships" id="275" r:id="Rbac22c0bde73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ec5c182ab4e7d" /><Relationship Type="http://schemas.openxmlformats.org/officeDocument/2006/relationships/slideMaster" Target="/ppt/slideMasters/slideMaster1.xml" Id="R5a572ea745464272" /><Relationship Type="http://schemas.openxmlformats.org/officeDocument/2006/relationships/notesMaster" Target="/ppt/notesMasters/notesMaster1.xml" Id="R147fa82947234543" /><Relationship Type="http://schemas.openxmlformats.org/officeDocument/2006/relationships/presProps" Target="/ppt/presProps.xml" Id="Rdcdc8160354040e6" /><Relationship Type="http://schemas.openxmlformats.org/officeDocument/2006/relationships/tableStyles" Target="/ppt/tableStyles.xml" Id="Rb9d5f402ab194d8a" /><Relationship Type="http://schemas.openxmlformats.org/officeDocument/2006/relationships/slide" Target="/ppt/slides/slide1.xml" Id="Ra139de0aa8954039" /><Relationship Type="http://schemas.openxmlformats.org/officeDocument/2006/relationships/slide" Target="/ppt/slides/slide2.xml" Id="R7381e92bd2b84e17" /><Relationship Type="http://schemas.openxmlformats.org/officeDocument/2006/relationships/slide" Target="/ppt/slides/slide3.xml" Id="Ra8514f84bc134d1d" /><Relationship Type="http://schemas.openxmlformats.org/officeDocument/2006/relationships/slide" Target="/ppt/slides/slide4.xml" Id="Rd33c2e1b76ee48f0" /><Relationship Type="http://schemas.openxmlformats.org/officeDocument/2006/relationships/slide" Target="/ppt/slides/slide5.xml" Id="Rbe96ec5b2e444aae" /><Relationship Type="http://schemas.openxmlformats.org/officeDocument/2006/relationships/slide" Target="/ppt/slides/slide6.xml" Id="Rc66772aa82554fa2" /><Relationship Type="http://schemas.openxmlformats.org/officeDocument/2006/relationships/slide" Target="/ppt/slides/slide7.xml" Id="R3a7fb6f2303f4184" /><Relationship Type="http://schemas.openxmlformats.org/officeDocument/2006/relationships/slide" Target="/ppt/slides/slide8.xml" Id="R94181c2d6661475d" /><Relationship Type="http://schemas.openxmlformats.org/officeDocument/2006/relationships/slide" Target="/ppt/slides/slide9.xml" Id="R25aab5e0674f42d7" /><Relationship Type="http://schemas.openxmlformats.org/officeDocument/2006/relationships/slide" Target="/ppt/slides/slide10.xml" Id="Rdb5c2aea70d44203" /><Relationship Type="http://schemas.openxmlformats.org/officeDocument/2006/relationships/slide" Target="/ppt/slides/slide11.xml" Id="Rf579fe8a84d04a99" /><Relationship Type="http://schemas.openxmlformats.org/officeDocument/2006/relationships/slide" Target="/ppt/slides/slide12.xml" Id="R640fe6ca315648b7" /><Relationship Type="http://schemas.openxmlformats.org/officeDocument/2006/relationships/slide" Target="/ppt/slides/slide13.xml" Id="Ra378282e29234cfa" /><Relationship Type="http://schemas.openxmlformats.org/officeDocument/2006/relationships/slide" Target="/ppt/slides/slide14.xml" Id="R7598f57a04bd402d" /><Relationship Type="http://schemas.openxmlformats.org/officeDocument/2006/relationships/slide" Target="/ppt/slides/slide15.xml" Id="R8231984abe9d412b" /><Relationship Type="http://schemas.openxmlformats.org/officeDocument/2006/relationships/slide" Target="/ppt/slides/slide16.xml" Id="R6aa9dd4b3a544d85" /><Relationship Type="http://schemas.openxmlformats.org/officeDocument/2006/relationships/slide" Target="/ppt/slides/slide17.xml" Id="Raf795de670594428" /><Relationship Type="http://schemas.openxmlformats.org/officeDocument/2006/relationships/slide" Target="/ppt/slides/slide18.xml" Id="R8769282fbaa64e82" /><Relationship Type="http://schemas.openxmlformats.org/officeDocument/2006/relationships/slide" Target="/ppt/slides/slide19.xml" Id="R29d7dd8e14304ba1" /><Relationship Type="http://schemas.openxmlformats.org/officeDocument/2006/relationships/slide" Target="/ppt/slides/slide20.xml" Id="Rbac22c0bde73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daf38930c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07b5aeb84468f" /><Relationship Type="http://schemas.openxmlformats.org/officeDocument/2006/relationships/notesMaster" Target="/ppt/notesMasters/notesMaster1.xml" Id="R53b52ecfe0e648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0774bfb7e4fd8" /><Relationship Type="http://schemas.openxmlformats.org/officeDocument/2006/relationships/notesMaster" Target="/ppt/notesMasters/notesMaster1.xml" Id="Rd5886197b0a44a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1554ff3994ca4" /><Relationship Type="http://schemas.openxmlformats.org/officeDocument/2006/relationships/notesMaster" Target="/ppt/notesMasters/notesMaster1.xml" Id="Rdb7e09c251c4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0424e31f36409b" /><Relationship Type="http://schemas.openxmlformats.org/officeDocument/2006/relationships/notesMaster" Target="/ppt/notesMasters/notesMaster1.xml" Id="Rb0ae4054bd9c4e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21e0db6ce4b0f" /><Relationship Type="http://schemas.openxmlformats.org/officeDocument/2006/relationships/notesMaster" Target="/ppt/notesMasters/notesMaster1.xml" Id="R3d308f1191e744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5ffb51368a41d8" /><Relationship Type="http://schemas.openxmlformats.org/officeDocument/2006/relationships/notesMaster" Target="/ppt/notesMasters/notesMaster1.xml" Id="R65b6ab37f6b542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86f5666a0444fe" /><Relationship Type="http://schemas.openxmlformats.org/officeDocument/2006/relationships/notesMaster" Target="/ppt/notesMasters/notesMaster1.xml" Id="Re85a90f1df8443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a70037856a4ceb" /><Relationship Type="http://schemas.openxmlformats.org/officeDocument/2006/relationships/notesMaster" Target="/ppt/notesMasters/notesMaster1.xml" Id="R20b50603f08c4a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3b0296356e446e" /><Relationship Type="http://schemas.openxmlformats.org/officeDocument/2006/relationships/notesMaster" Target="/ppt/notesMasters/notesMaster1.xml" Id="R27a89ac86c40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f4c933567d4fc4" /><Relationship Type="http://schemas.openxmlformats.org/officeDocument/2006/relationships/notesMaster" Target="/ppt/notesMasters/notesMaster1.xml" Id="R42524db64bf44b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b0e8586c90443b" /><Relationship Type="http://schemas.openxmlformats.org/officeDocument/2006/relationships/notesMaster" Target="/ppt/notesMasters/notesMaster1.xml" Id="R73bb0688ed6e4a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267c7a1e634fe6" /><Relationship Type="http://schemas.openxmlformats.org/officeDocument/2006/relationships/notesMaster" Target="/ppt/notesMasters/notesMaster1.xml" Id="R57229a91480840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6a41e886fb475f" /><Relationship Type="http://schemas.openxmlformats.org/officeDocument/2006/relationships/notesMaster" Target="/ppt/notesMasters/notesMaster1.xml" Id="R8b7273d37f5c41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b7fdb55ee142ea" /><Relationship Type="http://schemas.openxmlformats.org/officeDocument/2006/relationships/notesMaster" Target="/ppt/notesMasters/notesMaster1.xml" Id="Rc362fb9f94db4d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4376f071494a0a" /><Relationship Type="http://schemas.openxmlformats.org/officeDocument/2006/relationships/notesMaster" Target="/ppt/notesMasters/notesMaster1.xml" Id="R1a58f3fa1a5f4d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ea884d60ea4ec0" /><Relationship Type="http://schemas.openxmlformats.org/officeDocument/2006/relationships/notesMaster" Target="/ppt/notesMasters/notesMaster1.xml" Id="Re40901b3a1f344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25d5b77c31453c" /><Relationship Type="http://schemas.openxmlformats.org/officeDocument/2006/relationships/notesMaster" Target="/ppt/notesMasters/notesMaster1.xml" Id="Rf63056baa9a845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183476abcf4538" /><Relationship Type="http://schemas.openxmlformats.org/officeDocument/2006/relationships/notesMaster" Target="/ppt/notesMasters/notesMaster1.xml" Id="Ra4340417cc6a46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f2ad19a2aa4dc3" /><Relationship Type="http://schemas.openxmlformats.org/officeDocument/2006/relationships/notesMaster" Target="/ppt/notesMasters/notesMaster1.xml" Id="R2e445d49540f4e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0b839f8f5b42a4" /><Relationship Type="http://schemas.openxmlformats.org/officeDocument/2006/relationships/notesMaster" Target="/ppt/notesMasters/notesMaster1.xml" Id="R559fec41e604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由校內交通安全教師帶領。請學生舉手分享通學方式，不問住址。封面為 AI 生成原創教學示意，非真實校園。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請兩位學生簡短分享。以學生可做的行動連結駕駛義務與道路設計，不要求揭露個人行蹤。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三句皆錯，但先收學生理由，課末再確認。前測用於理解迷思，不計成績。來源：道路交通安全規則第60條；微型電動二輪車規定。https://law.moj.gov.tw/LawClass/LawAll.aspx?PCode=K0040013 https://www.thb.gov.tw/News_Content.aspx?Create=1&amp;n=12181&amp;s=258228&amp;sms=14672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影片播放與後續討論。本頁先提問，再播放建議區段60秒。未逐秒審看，教師課前須試播；廣告不計入。若30秒仍無法播放，使用教案文字情境A。來源：https://news.pts.org.tw/article/798519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兩人討論，抽答後進入下一頁。不可把自己的安全建議說成新聞結論。新聞為2026年3月修法報導，現行條文以全國法規資料庫為準。https://news.pts.org.tw/article/798519 https://law.moj.gov.tw/LawClass/LawAll.aspx?pcode=K0040014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3月修正後，現行第207條用語為「避免跨入」，勿沿用「禁止跨入」或舊罰鍰說法。等待下一輪是本課安全建議。紅色站立行人燈穩定顯示時禁止進入道路。不要教學生在車道上折返。來源：https://law.moj.gov.tw/LawClass/LawAll.aspx?pcode=K0040014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概念教學。來源：道路交通管理處罰條例第44條。不要要求學生以是否眼神接觸判定駕駛會停。https://law.moj.gov.tw/LawClass/LawAll.aspx?pcode=K0040012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兩個概念不同，可能同時出現。大車打方向燈時，不從右側鑽縫。不用固定幾公尺當保證，不以後照鏡可見推定駕駛看見。來源：公路局大型車宣導 https://www.thb.gov.tw/News_Content_table.aspx?n=87&amp;s=60444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微電車免考照仍有年齡與車輛條件，且不可擅自改裝。本頁只說輕型及普通重型機車，勿套用到大型重型機車。來源：https://law.moj.gov.tw/LawClass/LawAll.aspx?PCode=K0040013 https://www.thb.gov.tw/News_Content.aspx?Create=1&amp;n=12181&amp;s=258228&amp;sms=14672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自行車安全帽是安全建議，勿說成所有情況一律有相同法定強制義務。來源：道路交通安全規則第114、136條。https://law.moj.gov.tw/LawClass/LawAll.aspx?PCode=K0040013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播放與討論。這是2024年入校教學報導，不是楊梅高中活動紀錄。未逐秒審看，教師先試播。用模擬方法做危險感知，不完整搬用兒童活動。來源：https://news.pts.org.tw/article/680631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此頁為教學提問，非已完成現場勘查或工程建議。學校可彙整問題向道路主管機關反映，由專業單位評估。不要自行要求學生進入車道拍攝或量測。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依序閱讀選題、討論、整理與自評。發每人活動單與每組白紙。可口述或請同學朗讀支援不同需求。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詳情看活動單。教師巡組時先問當下行動，再請學生用規則或風險原理解釋。標準回饋在教案活動頁與簡報第19頁。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評分面向為風險辨識、當下行動、理由、環境改善，各0–2分，共8分，6分為達成參考。若行動為0分，必須先修正，不能用其他分數抵消。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安排小組分享、同儕與教師回饋。提醒駕駛停讓義務，且不可根據片段影像判定個案責任。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先獨立作答，再核對答案並寫下承諾。完整選項在活動單，網站也可作答，但無須手機。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本課後測4/5為基本標準，未達者依錯題口頭解釋或重答。請學生回看三題前測並修正。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小組回饋完整版：A 路口與手機：留在人行道等下一輪穩定綠燈，收起手機。可通行時仍觀察轉彎車及遮蔽處，確認可安全穿越。駕駛仍負停讓義務。改善可提退縮停車、視距或行人時相，交由學校向主管機關反映。</a:t>
            </a:r>
          </a:p>
          <a:p xmlns:a="http://schemas.openxmlformats.org/drawingml/2006/main">
            <a:r>
              <a:t>B 大型車與自行車：減速並在安全位置停等，避免進入大型車兩側與轉彎範圍，不以看見後照鏡推定駕駛已看見自己。等大車完成轉彎、路口安全再依號誌通行。改善可提清楚停等空間及路口視距。</a:t>
            </a:r>
          </a:p>
          <a:p xmlns:a="http://schemas.openxmlformats.org/drawingml/2006/main">
            <a:r>
              <a:t>C 朋友借車：17 歲不能考領普通重型機車駕照，不無照騎乘。微電車須滿 14 歲，掛牌、投保有效強制險、戴安全帽且不得載人，速率不得超過每小時 25 公里。改搭公車、由合法接送者接送或依規定步行。</a:t>
            </a:r>
          </a:p>
          <a:p xmlns:a="http://schemas.openxmlformats.org/drawingml/2006/main">
            <a:r>
              <a:t>後測理由：1. 現行規定為尚未進入道路者避免跨入；教學建議等下一輪。已進入道路者應儘速通過，或在交通島停等。</a:t>
            </a:r>
          </a:p>
          <a:p xmlns:a="http://schemas.openxmlformats.org/drawingml/2006/main">
            <a:r>
              <a:t>2. 駕駛負有停讓義務。行人觀察來車是自我保護，不會免除駕駛責任。</a:t>
            </a:r>
          </a:p>
          <a:p xmlns:a="http://schemas.openxmlformats.org/drawingml/2006/main">
            <a:r>
              <a:t>3. 後輪轉彎軌跡更靠內側，且車旁有視野死角；沒有固定距離能保證安全。</a:t>
            </a:r>
          </a:p>
          <a:p xmlns:a="http://schemas.openxmlformats.org/drawingml/2006/main">
            <a:r>
              <a:t>4. 考領輕型及普通重型機車駕照須年滿 18 歲；年滿 18 歲仍須考領適當駕照。</a:t>
            </a:r>
          </a:p>
          <a:p xmlns:a="http://schemas.openxmlformats.org/drawingml/2006/main">
            <a:r>
              <a:t>5. 微電車免考照仍有年齡及車輛條件，速率不得超過每小時 25 公里，不可擅自改裝。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本頁供備課。課堂播放須限授課目的必要範圍，依著作權法第46、65條評估。公開網站不重製或重新上傳影片。完整官方來源：</a:t>
            </a:r>
          </a:p>
          <a:p xmlns:a="http://schemas.openxmlformats.org/drawingml/2006/main">
            <a:r>
              <a:t>道路交通安全規則 第 60、114、122、133、134、136 條 https://law.moj.gov.tw/LawClass/LawAll.aspx?PCode=K0040013</a:t>
            </a:r>
          </a:p>
          <a:p xmlns:a="http://schemas.openxmlformats.org/drawingml/2006/main">
            <a:r>
              <a:t>道路交通標誌標線號誌設置規則 第 207 條 https://law.moj.gov.tw/LawClass/LawAll.aspx?pcode=K0040014</a:t>
            </a:r>
          </a:p>
          <a:p xmlns:a="http://schemas.openxmlformats.org/drawingml/2006/main">
            <a:r>
              <a:t>道路交通管理處罰條例 第 44、73 條 https://law.moj.gov.tw/LawClass/LawAll.aspx?pcode=K0040012</a:t>
            </a:r>
          </a:p>
          <a:p xmlns:a="http://schemas.openxmlformats.org/drawingml/2006/main">
            <a:r>
              <a:t>公路局 微型電動二輪車騎乘條件 https://www.thb.gov.tw/News_Content.aspx?Create=1&amp;n=12181&amp;s=258228&amp;sms=14672</a:t>
            </a:r>
          </a:p>
          <a:p xmlns:a="http://schemas.openxmlformats.org/drawingml/2006/main">
            <a:r>
              <a:t>公路局 大型車內輪差安全宣導 https://www.thb.gov.tw/News_Content_table.aspx?n=87&amp;s=60444</a:t>
            </a:r>
          </a:p>
          <a:p xmlns:a="http://schemas.openxmlformats.org/drawingml/2006/main">
            <a:r>
              <a:t>著作權法 第 46、46之1、65 條 https://law.moj.gov.tw/LawClass/LawAll.aspx?PCode=J0070017</a:t>
            </a:r>
          </a:p>
          <a:p xmlns:a="http://schemas.openxmlformats.org/drawingml/2006/main">
            <a:r>
              <a:t>智慧財產局 課堂播放影片說明 https://www.tipo.gov.tw/tw/copyright/701-21231.html</a:t>
            </a:r>
          </a:p>
          <a:p xmlns:a="http://schemas.openxmlformats.org/drawingml/2006/main">
            <a:r>
              <a:t>楊梅高中教務處 校址與學校資訊 https://www.ymhs.tyc.edu.tw/home?cid=3460</a:t>
            </a:r>
          </a:p>
          <a:p xmlns:a="http://schemas.openxmlformats.org/drawingml/2006/main">
            <a:r>
              <a:t>影片：</a:t>
            </a:r>
          </a:p>
          <a:p xmlns:a="http://schemas.openxmlformats.org/drawingml/2006/main">
            <a:r>
              <a:t>https://news.pts.org.tw/article/798519 https://www.youtube.com/watch?v=IkMxj7dcCt0&amp;t=0s</a:t>
            </a:r>
          </a:p>
          <a:p xmlns:a="http://schemas.openxmlformats.org/drawingml/2006/main">
            <a:r>
              <a:t>https://news.pts.org.tw/article/680631 https://www.youtube.com/watch?v=9jZBF0afDTo&amp;t=0s</a:t>
            </a:r>
          </a:p>
          <a:p xmlns:a="http://schemas.openxmlformats.org/drawingml/2006/main">
            <a:r>
              <a:t>https://www.youtube.com/watch?v=iGjryEVod7c https://www.youtube.com/watch?v=iGjryEVod7c&amp;t=0s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08bf3b0054c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c869cb5f24b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22dcd9c004c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84d85bf9c48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3b6eab07d4d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b199f8604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5A322A-0B62-476B-AB18-373A9FB72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4FE8F6-920B-4C37-8220-E9CAE92B5E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633385-6BDE-4E36-A230-DAD3856D1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D45AA4-77FF-4AB4-B64D-997C0D6FC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25C397-21C9-4C57-A2B0-CB016FDA82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CA43E7-885E-4386-897E-BEFBD408B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9206FD-4290-438B-BE0A-5C14F9FEF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D47C77-73D1-4EE4-9448-82F948DA6E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AB10DC-EFDB-43CE-AF9A-1E64F12FA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C35A26-BAEE-49B1-A876-CF61BBBFF6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ce213028744dd" /><Relationship Type="http://schemas.openxmlformats.org/officeDocument/2006/relationships/slideLayout" Target="/ppt/slideLayouts/slideLayout1.xml" Id="R43b82bfd18c94a24" /><Relationship Type="http://schemas.openxmlformats.org/officeDocument/2006/relationships/slideLayout" Target="/ppt/slideLayouts/slideLayout2.xml" Id="Re49843e0a0dd4889" /><Relationship Type="http://schemas.openxmlformats.org/officeDocument/2006/relationships/slideLayout" Target="/ppt/slideLayouts/slideLayout3.xml" Id="Rbc0f7393a5da4ed8" /><Relationship Type="http://schemas.openxmlformats.org/officeDocument/2006/relationships/slideLayout" Target="/ppt/slideLayouts/slideLayout4.xml" Id="Re12177eb5ca743ac" /><Relationship Type="http://schemas.openxmlformats.org/officeDocument/2006/relationships/slideLayout" Target="/ppt/slideLayouts/slideLayout5.xml" Id="Rc527a7085172423c" /><Relationship Type="http://schemas.openxmlformats.org/officeDocument/2006/relationships/slideLayout" Target="/ppt/slideLayouts/slideLayout6.xml" Id="R0943a2e867b649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b82bfd18c94a24"/>
    <p:sldLayoutId xmlns:r="http://schemas.openxmlformats.org/officeDocument/2006/relationships" id="2147483650" r:id="Re49843e0a0dd4889"/>
    <p:sldLayoutId xmlns:r="http://schemas.openxmlformats.org/officeDocument/2006/relationships" id="2147483651" r:id="Rbc0f7393a5da4ed8"/>
    <p:sldLayoutId xmlns:r="http://schemas.openxmlformats.org/officeDocument/2006/relationships" id="2147483652" r:id="Re12177eb5ca743ac"/>
    <p:sldLayoutId xmlns:r="http://schemas.openxmlformats.org/officeDocument/2006/relationships" id="2147483653" r:id="Rc527a7085172423c"/>
    <p:sldLayoutId xmlns:r="http://schemas.openxmlformats.org/officeDocument/2006/relationships" id="2147483654" r:id="R0943a2e867b649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d62a9cf6c94f7c" /><Relationship Type="http://schemas.openxmlformats.org/officeDocument/2006/relationships/image" Target="/ppt/media/image.png" Id="R6ffd88b864444761" /><Relationship Type="http://schemas.openxmlformats.org/officeDocument/2006/relationships/notesSlide" Target="/ppt/notesSlides/notesSlide1.xml" Id="Rebd6b41db8a7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023fab96d4f96" /><Relationship Type="http://schemas.openxmlformats.org/officeDocument/2006/relationships/notesSlide" Target="/ppt/notesSlides/notesSlide2.xml" Id="R10657bb62c5847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53f13484b443b8" /><Relationship Type="http://schemas.openxmlformats.org/officeDocument/2006/relationships/notesSlide" Target="/ppt/notesSlides/notesSlide3.xml" Id="R90e017ce9d26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5bd3502dd430d" /><Relationship Type="http://schemas.openxmlformats.org/officeDocument/2006/relationships/hyperlink" Target="https://www.youtube.com/watch?v=IkMxj7dcCt0&amp;t=0s" TargetMode="External" Id="R49f909f8139a4896" /><Relationship Type="http://schemas.openxmlformats.org/officeDocument/2006/relationships/hyperlink" Target="https://www.youtube.com/watch?v=IkMxj7dcCt0&amp;t=0s" TargetMode="External" Id="Re46752cc9dd449f6" /><Relationship Type="http://schemas.openxmlformats.org/officeDocument/2006/relationships/notesSlide" Target="/ppt/notesSlides/notesSlide4.xml" Id="R1d036a83e3f444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faaa8dd4d54599" /><Relationship Type="http://schemas.openxmlformats.org/officeDocument/2006/relationships/notesSlide" Target="/ppt/notesSlides/notesSlide5.xml" Id="R38f279e834e148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bffa21ccf4a75" /><Relationship Type="http://schemas.openxmlformats.org/officeDocument/2006/relationships/notesSlide" Target="/ppt/notesSlides/notesSlide6.xml" Id="Ra0c2fe5fb95947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d205cec8b40e4" /><Relationship Type="http://schemas.openxmlformats.org/officeDocument/2006/relationships/notesSlide" Target="/ppt/notesSlides/notesSlide7.xml" Id="R0a8c1d4a8ff3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c2dd1dd0d4ef7" /><Relationship Type="http://schemas.openxmlformats.org/officeDocument/2006/relationships/notesSlide" Target="/ppt/notesSlides/notesSlide8.xml" Id="R07e63ca25bb245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1697851f24588" /><Relationship Type="http://schemas.openxmlformats.org/officeDocument/2006/relationships/notesSlide" Target="/ppt/notesSlides/notesSlide9.xml" Id="R85fbf9e038004a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4c2811f7d431c" /><Relationship Type="http://schemas.openxmlformats.org/officeDocument/2006/relationships/notesSlide" Target="/ppt/notesSlides/notesSlide10.xml" Id="R2c8528e9ab254d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7af20781a4cb3" /><Relationship Type="http://schemas.openxmlformats.org/officeDocument/2006/relationships/hyperlink" Target="https://www.youtube.com/watch?v=9jZBF0afDTo&amp;t=0s" TargetMode="External" Id="R3b0fcba3c6924426" /><Relationship Type="http://schemas.openxmlformats.org/officeDocument/2006/relationships/hyperlink" Target="https://www.youtube.com/watch?v=9jZBF0afDTo&amp;t=0s" TargetMode="External" Id="R0cef857998ec4a05" /><Relationship Type="http://schemas.openxmlformats.org/officeDocument/2006/relationships/notesSlide" Target="/ppt/notesSlides/notesSlide11.xml" Id="R3bbdbba5f1b841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8183d0c994fcc" /><Relationship Type="http://schemas.openxmlformats.org/officeDocument/2006/relationships/notesSlide" Target="/ppt/notesSlides/notesSlide12.xml" Id="R43ec7ed2ea414c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80b1053df46e8" /><Relationship Type="http://schemas.openxmlformats.org/officeDocument/2006/relationships/notesSlide" Target="/ppt/notesSlides/notesSlide13.xml" Id="Rb9f1dfcff9c145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a4e3ddaf2419c" /><Relationship Type="http://schemas.openxmlformats.org/officeDocument/2006/relationships/notesSlide" Target="/ppt/notesSlides/notesSlide14.xml" Id="Rbb681194f2044a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b9d70b79242e9" /><Relationship Type="http://schemas.openxmlformats.org/officeDocument/2006/relationships/notesSlide" Target="/ppt/notesSlides/notesSlide15.xml" Id="R3eddb905d11446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3a4842d63e4536" /><Relationship Type="http://schemas.openxmlformats.org/officeDocument/2006/relationships/notesSlide" Target="/ppt/notesSlides/notesSlide16.xml" Id="R6a51c9c69cee4c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328e5ecac4c45" /><Relationship Type="http://schemas.openxmlformats.org/officeDocument/2006/relationships/notesSlide" Target="/ppt/notesSlides/notesSlide17.xml" Id="Rf8ecaa02593b44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b4f718b5f44d9" /><Relationship Type="http://schemas.openxmlformats.org/officeDocument/2006/relationships/notesSlide" Target="/ppt/notesSlides/notesSlide18.xml" Id="R79883714e8ed46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c7f419bee4750" /><Relationship Type="http://schemas.openxmlformats.org/officeDocument/2006/relationships/notesSlide" Target="/ppt/notesSlides/notesSlide19.xml" Id="Rb997eb6f75d142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9fd0d2f0f4e59" /><Relationship Type="http://schemas.openxmlformats.org/officeDocument/2006/relationships/notesSlide" Target="/ppt/notesSlides/notesSlide20.xml" Id="R2ea50c0ded5642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FF9B1-54E6-41E7-818C-F2B158C79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d88b8644447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B0991-C871-428C-9A2B-95A56BF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571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放學路上的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安全選擇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C0113-591D-4908-9F58-A13AE3C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楊梅高中交通安全充實課程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D14E1-2FDF-4520-B780-7DD9C311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C7D5DF"/>
                </a:solidFill>
                <a:latin typeface="Microsoft JhengHei"/>
                <a:ea typeface="Microsoft JhengHei"/>
                <a:cs typeface="Microsoft JhengHei"/>
              </a:rPr>
              <a:t>原創教學示意，非真實校園</a:t>
            </a:r>
          </a:p>
        </p:txBody>
      </p:sp>
    </p:spTree>
    <p:extLst>
      <p:ext uri="{BB962C8B-B14F-4D97-AF65-F5344CB8AC3E}">
        <p14:creationId xmlns:p14="http://schemas.microsoft.com/office/powerpoint/2010/main" val="1387306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3D4C2-0580-4FAA-AFDD-F3C7B0A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今天的通學任務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2C07A-F813-4092-9BA5-394B5EE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辨識新聞中的事實與推論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E4034-94EE-42B1-9A90-72F276B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說出風險，以及當下能做的事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DF70F-0A9D-4BB1-BA58-5CCBA91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提出一項道路環境改善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B019-E16B-470A-BB53-03CD983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兩人分享：哪個通學時刻讓你猶豫？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0A9E4-2CD5-44C0-B55E-6EA4904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0501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EDC6B-A228-49EA-9D18-A7C42DF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三題前測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E750-06C4-49F7-9A91-0BF90B66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綠燈時，可以完全不看轉彎車？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7B9E-AE6A-45B5-B79C-7045CDB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17 歲，只騎一小段普通重型機車可以？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7BD0-4492-4DE2-A668-D5207399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微電車免考照，所以可載同學？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85E3A-F5CA-46C7-99BB-193FF5C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先判斷，再向同桌說理由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09CCF-C73B-48DF-9610-AF0798A0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3703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63F32-0FA8-4384-856A-165B9BA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 A　行人綠燈閃光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A7AF-C0D5-41A5-A6DC-489555B3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你還在人行道上，綠燈開始閃光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71E76-6536-4F17-B68D-04452F7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朋友催你快跑，你會怎麼做？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2AFA5-E633-4070-B705-F725B56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49f909f8139a4896"/>
              </a:rPr>
              <a:t>公視新聞網　2026.03.11</a:t>
            </a:r>
          </a:p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46752cc9dd449f6"/>
              </a:rPr>
              <a:t>點選觀看新聞片段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CB970-F7DA-4577-979A-57C96D5F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547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6DD81-48BA-499C-A7A3-8440C57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報導事實與自己的推論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69B08-024B-40D0-820A-89FADE37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事實：報導談到什麼規定變動？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6715-6808-46A9-93B8-E587C641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推論：你怎麼判斷可以安全通過？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A4AB6-D137-4BA5-B1A1-24597726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查核：現行條文如何描述閃光綠燈？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46D4-407E-4F00-865F-7E0B3706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同桌各提出一項，教師再帶領核對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CB31F-790E-4FF2-A8DE-4B9ABC7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2705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F1D69-2B33-4867-A288-5845643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行人號誌與穿越選擇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05F7D-BC68-4438-8FAC-2A72FE4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穩定綠燈：可穿越，仍觀察轉彎車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C7FB0-A412-4CE5-9B29-EE88AF58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閃光綠燈：未進入道路者避免跨入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2DCE4-C95F-407B-A9A8-B7468474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已進入道路：儘速通過，或停於交通島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AFB3A-284F-4765-B5BB-52266E1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還沒進入道路時，等待下一輪穩定綠燈較安全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4AD50-30FB-47DC-88D5-8B84CA80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9191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F9038-9D2F-41DA-B7C2-964A4C75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駕駛的停讓義務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986FC-2971-4F94-BB70-B586028F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依法可供行人穿越的路口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C511B-9265-477B-AC2D-DCE77756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有行人穿越，駕駛應暫停讓行人先通過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7E565-03F7-45C7-963D-AAC9CE0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觀察來車，是行人的自我保護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7E1CE-0679-486C-84DD-A2A72DA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行人保持警覺，不會免除駕駛的責任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7A1A5-6F08-45BF-AE88-F0FF6FEB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0446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F7E43-3B52-4FD6-A10D-E9FAF5C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大型車的兩種風險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9CB7A-CC95-4A87-9320-087A647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內輪差：後輪轉彎軌跡更靠內側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D111C-8E49-4093-B0E1-4B155A27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視野死角：駕駛可能看不到車旁的你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7A68-4D93-4075-9AE3-D36A4DB6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車側空隙，可能落在轉彎範圍內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50525-38AE-4A5D-83A8-F1B5ACD2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避開車側與轉彎範圍，安全停等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F19E-DD67-40E4-85DD-7CC60E7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6467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0ACBF-F331-4439-907A-69038EE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機車與微電車條件不同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34DA8-C959-44C4-ACD4-A7729B1C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輕型及普通重型機車：滿 18 歲可考照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AA22F-6C42-46DF-B713-01030B1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上路騎乘仍須持適當駕照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DC5F9-2306-4E4A-8E9C-7CECBF1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微電車：滿 14 歲、掛牌、有效強制險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2B1B6-5C09-4F0C-9B84-AC86D32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微電車須戴安全帽，不載人，最高每小時 25 公里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796E-B553-45B6-B476-F76F9DD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3859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3B8DA-7FC7-4377-A9A0-976E0749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騎乘與乘車的基本準備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C503B-71AB-4ED9-942E-0092DEE7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機車乘客也要正確戴妥安全帽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05E56-7C1C-497A-BF52-FF26DB57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汽車依規定繫安全帶，公車停妥再上下車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94D66-64B0-4EDA-8676-6FDA046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自行車先檢查煞車與燈具，建議戴安全帽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2FFA7-A72C-4FC7-901D-927B1C0A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接送與候車，保留行人通行空間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4FFC9-C0ED-41A6-B963-D2A97FC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8583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8D6F6-F034-4EE3-807F-BED4CD12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 B　模擬中的風險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ABB70-2E10-4585-9ABF-9D16A98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行人綠燈時，哪些車仍可能與你交會？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A4BBB-2EB4-46AC-84F4-2F5D931A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模擬畫面如何幫你注意視線限制？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0B591-76D7-472E-B3F7-55DD0D7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3b0fcba3c6924426"/>
              </a:rPr>
              <a:t>公視新聞網　2024.02.13</a:t>
            </a:r>
          </a:p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0cef857998ec4a05"/>
              </a:rPr>
              <a:t>點選觀看新聞片段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6A381-CC1B-4CA8-8E7E-5B1F8416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7184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B33E7-75F0-4A03-B6FB-659D255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通學風險也與環境有關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215A8-48C9-4C07-A6ED-95AAA551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停車遮住視線，如何保留可見空間？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AD4C2-802B-423E-B22F-FC350AA4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轉彎車與行人同時通行，怎麼減少交會？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7D5A4-4263-4D9F-A948-E414F0CF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接送車占用動線，學校能反映什麼？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ED770-85F4-4A6B-86CF-86BFC17B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同時提出個人行動與環境改善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5E545-BCB7-4CD5-9F44-EFA8E3A2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0725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945F2-2BD8-47FD-A8F6-2623EE1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小組情境任務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150FC-BA48-4FF8-BB89-A4365CA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4–5 人一組，從 A、B、C 選一題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F32D3-3360-4326-A730-44A3569C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合作完成活動單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1FDA-228C-4C00-B64E-11A8DB4F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主持、紀錄、報告與時間管理分工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867A-5D0D-4572-AB00-83F9FC95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全部在教室內完成，不填住址或車牌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E1777-DF56-42F3-8712-ABC3148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66778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0C574-C8F4-4712-BB06-B0263260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三個放學情境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217D2-6A8F-4F94-A56A-C2346BE4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　綠燈閃光，朋友拉你過馬路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FA72A-FDF2-445C-BB72-0F038AC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B　大型車準備右轉，自行車想鑽空隙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6F495-9830-48B5-9B7E-48EF6D8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C　17 歲借機車，或改用微電車載人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05B9-E471-4BD8-8548-D319FA47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教學假設情境，非楊梅高中實際事故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847E7-A89E-4591-8357-559E2BF1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557925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89801-FB62-416E-9F0B-AD646ED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一張紙的四個回答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FF9C9-67D0-4F8B-88B9-51139B33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指出兩個具體風險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F8ADB-D928-4882-9756-1D458FD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寫下當下行動與理由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F7C7E-26E8-4932-9CB5-05FAD063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再提出一項道路環境改善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10BE1-D0CE-4468-8E65-3709A672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檢查：這個選擇會不會增加新的風險？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6EDA-717D-4041-86FB-ED93EAF3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16596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AB4E6-3E79-48DA-8703-FDC094AB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小組分享與回饋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16720-8831-49B8-902E-2251E181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分享選擇，說清楚行動與理由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FE046-474A-40CD-A87C-A7EF5E3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同學提出一個可改進處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F4F2B-C351-4899-8860-F1D8EF7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教師核對規則，協助各組修正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7A2F2-BF9F-4711-8E71-F867B709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其他組以活動單交件，保留自己的修正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1E575-9283-45FF-9F26-7FC1648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908581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ED244-9A8C-445B-8F2F-9BBE5A5D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五題離堂檢核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60146-7FF6-482F-A246-ACD52E3E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1　綠燈開始閃光，還在人行道上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C235F-B1AB-4D70-8A59-791688A5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2　行人穿越時，駕駛的義務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9D3A9-BDF2-4A32-B813-74420C0B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3　大型車準備右轉時的選擇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A466D-1CB0-423C-ACDB-7AAA6B3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獨立作答活動單五題，再一起核對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EBD42-EC3B-4B8D-BD46-0C7D093B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37394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F043B-620D-482A-B672-FF440A9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今天放學的一個行動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008E6-6A10-43FB-A64B-3D9D5A3E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4　17 歲能否騎普通重型機車？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7A685-AAAA-4958-92FE-6FA3CB2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5　微型電動二輪車有哪些條件？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ACF87-B2D8-4954-8C1C-BC54B3C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遇到＿＿時，我會＿＿，因為＿＿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3ECC7-03FA-43CA-960A-01D808CB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把「我會小心」改成一個具體動作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0DB6A-E4DD-41C2-96AF-73FEA6E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73477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D5375-9FC5-4127-98DD-2207D32C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教師備用　答案與回饋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CEF63-52AA-4286-BE67-4B22052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後測答案：1B、2B、3C、4A、5C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5AE7-9545-49A1-8293-70A00E8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A 等下一輪　B 避開大車　C 合法通學方式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39EC-1618-4C31-B769-482B3D9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行動有風險時，先澄清再修正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7D360-6875-4292-8EF3-4EBA5E5D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此頁供教師備課，不另增授課時間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D38E4-D167-431B-BBA7-CB07C830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563515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57120-8162-494C-992F-A33BEC40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來源與課堂使用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302D-050C-4F59-B337-700D8FB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法規查核日：2026 年 10 月 8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0ADFD-06B7-40B0-9372-11EFA95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影片使用原發布者連結與原播放器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0683A-86E3-41EB-ACC0-D52BA5A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0283E"/>
                </a:solidFill>
                <a:latin typeface="Microsoft JhengHei"/>
                <a:ea typeface="Microsoft JhengHei"/>
                <a:cs typeface="Microsoft JhengHei"/>
              </a:rPr>
              <a:t>教師課前試播，影片失效可改用文字情境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005EF-DBEF-488B-BA28-CE512E94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10429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20"/>
                </a:solidFill>
                <a:latin typeface="Microsoft JhengHei"/>
                <a:ea typeface="Microsoft JhengHei"/>
                <a:cs typeface="Microsoft JhengHei"/>
              </a:rPr>
              <a:t>原創插畫為教學示意，非真實校園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FAE19-8C3C-41AE-AC61-50CA3B0C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96944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2026-10-08T05:15:03.5000000Z</dcterms:created>
  <dcterms:modified xsi:type="dcterms:W3CDTF">2026-10-08T05:15:03.5000000Z</dcterms:modified>
</coreProperties>
</file>