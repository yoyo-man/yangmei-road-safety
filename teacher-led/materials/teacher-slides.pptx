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4f27fe2d794950" /><Relationship Type="http://schemas.openxmlformats.org/officeDocument/2006/relationships/extended-properties" Target="/docProps/app.xml" Id="R1e3f025bbdcf4f91" /><Relationship Type="http://schemas.openxmlformats.org/officeDocument/2006/relationships/officeDocument" Target="/ppt/presentation.xml" Id="R75c7ef3172b848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cfd5d9f5af4366"/>
  </p:sldMasterIdLst>
  <p:notesMasterIdLst>
    <p:notesMasterId xmlns:r="http://schemas.openxmlformats.org/officeDocument/2006/relationships" r:id="Re45e24573cee4f1d"/>
  </p:notesMasterIdLst>
  <p:sldIdLst>
    <p:sldId xmlns:r="http://schemas.openxmlformats.org/officeDocument/2006/relationships" id="256" r:id="R81d6531d6c7a4bfb"/>
    <p:sldId xmlns:r="http://schemas.openxmlformats.org/officeDocument/2006/relationships" id="257" r:id="R45a5dac402894098"/>
    <p:sldId xmlns:r="http://schemas.openxmlformats.org/officeDocument/2006/relationships" id="258" r:id="Rcd2ab13319d94ac0"/>
    <p:sldId xmlns:r="http://schemas.openxmlformats.org/officeDocument/2006/relationships" id="259" r:id="Rfd646b42fcd0423e"/>
    <p:sldId xmlns:r="http://schemas.openxmlformats.org/officeDocument/2006/relationships" id="260" r:id="R5e8c343a194547a0"/>
    <p:sldId xmlns:r="http://schemas.openxmlformats.org/officeDocument/2006/relationships" id="261" r:id="R08af112875a54b94"/>
    <p:sldId xmlns:r="http://schemas.openxmlformats.org/officeDocument/2006/relationships" id="262" r:id="R01747ff9f7b44794"/>
    <p:sldId xmlns:r="http://schemas.openxmlformats.org/officeDocument/2006/relationships" id="263" r:id="Rb031e6abdc9f4c71"/>
    <p:sldId xmlns:r="http://schemas.openxmlformats.org/officeDocument/2006/relationships" id="264" r:id="R3712be69afc54233"/>
    <p:sldId xmlns:r="http://schemas.openxmlformats.org/officeDocument/2006/relationships" id="265" r:id="R804fdec4785f4f57"/>
    <p:sldId xmlns:r="http://schemas.openxmlformats.org/officeDocument/2006/relationships" id="266" r:id="Rdb772f2f6db645cd"/>
    <p:sldId xmlns:r="http://schemas.openxmlformats.org/officeDocument/2006/relationships" id="267" r:id="Rb23af5b2cc37404c"/>
    <p:sldId xmlns:r="http://schemas.openxmlformats.org/officeDocument/2006/relationships" id="268" r:id="Rf4467a0c8e8d43d6"/>
    <p:sldId xmlns:r="http://schemas.openxmlformats.org/officeDocument/2006/relationships" id="269" r:id="R07645064819f4faf"/>
    <p:sldId xmlns:r="http://schemas.openxmlformats.org/officeDocument/2006/relationships" id="270" r:id="R3added7f019d4f83"/>
    <p:sldId xmlns:r="http://schemas.openxmlformats.org/officeDocument/2006/relationships" id="271" r:id="R30fdb617e03f4150"/>
    <p:sldId xmlns:r="http://schemas.openxmlformats.org/officeDocument/2006/relationships" id="272" r:id="Rad45ce1850d343b1"/>
    <p:sldId xmlns:r="http://schemas.openxmlformats.org/officeDocument/2006/relationships" id="273" r:id="Rfe91d74b357645e0"/>
    <p:sldId xmlns:r="http://schemas.openxmlformats.org/officeDocument/2006/relationships" id="274" r:id="R5e48e5d5d3044d5a"/>
    <p:sldId xmlns:r="http://schemas.openxmlformats.org/officeDocument/2006/relationships" id="275" r:id="R4c790ef12cd84a7c"/>
    <p:sldId xmlns:r="http://schemas.openxmlformats.org/officeDocument/2006/relationships" id="276" r:id="R4390436b18d84194"/>
    <p:sldId xmlns:r="http://schemas.openxmlformats.org/officeDocument/2006/relationships" id="277" r:id="Rb9b1e94002e242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02f79a42f149fa" /><Relationship Type="http://schemas.openxmlformats.org/officeDocument/2006/relationships/slideMaster" Target="/ppt/slideMasters/slideMaster1.xml" Id="Rf4cfd5d9f5af4366" /><Relationship Type="http://schemas.openxmlformats.org/officeDocument/2006/relationships/notesMaster" Target="/ppt/notesMasters/notesMaster1.xml" Id="Re45e24573cee4f1d" /><Relationship Type="http://schemas.openxmlformats.org/officeDocument/2006/relationships/presProps" Target="/ppt/presProps.xml" Id="Rae72124b5b65478b" /><Relationship Type="http://schemas.openxmlformats.org/officeDocument/2006/relationships/tableStyles" Target="/ppt/tableStyles.xml" Id="R107aa0f4b34a48e7" /><Relationship Type="http://schemas.openxmlformats.org/officeDocument/2006/relationships/slide" Target="/ppt/slides/slide1.xml" Id="R81d6531d6c7a4bfb" /><Relationship Type="http://schemas.openxmlformats.org/officeDocument/2006/relationships/slide" Target="/ppt/slides/slide2.xml" Id="R45a5dac402894098" /><Relationship Type="http://schemas.openxmlformats.org/officeDocument/2006/relationships/slide" Target="/ppt/slides/slide3.xml" Id="Rcd2ab13319d94ac0" /><Relationship Type="http://schemas.openxmlformats.org/officeDocument/2006/relationships/slide" Target="/ppt/slides/slide4.xml" Id="Rfd646b42fcd0423e" /><Relationship Type="http://schemas.openxmlformats.org/officeDocument/2006/relationships/slide" Target="/ppt/slides/slide5.xml" Id="R5e8c343a194547a0" /><Relationship Type="http://schemas.openxmlformats.org/officeDocument/2006/relationships/slide" Target="/ppt/slides/slide6.xml" Id="R08af112875a54b94" /><Relationship Type="http://schemas.openxmlformats.org/officeDocument/2006/relationships/slide" Target="/ppt/slides/slide7.xml" Id="R01747ff9f7b44794" /><Relationship Type="http://schemas.openxmlformats.org/officeDocument/2006/relationships/slide" Target="/ppt/slides/slide8.xml" Id="Rb031e6abdc9f4c71" /><Relationship Type="http://schemas.openxmlformats.org/officeDocument/2006/relationships/slide" Target="/ppt/slides/slide9.xml" Id="R3712be69afc54233" /><Relationship Type="http://schemas.openxmlformats.org/officeDocument/2006/relationships/slide" Target="/ppt/slides/slide10.xml" Id="R804fdec4785f4f57" /><Relationship Type="http://schemas.openxmlformats.org/officeDocument/2006/relationships/slide" Target="/ppt/slides/slide11.xml" Id="Rdb772f2f6db645cd" /><Relationship Type="http://schemas.openxmlformats.org/officeDocument/2006/relationships/slide" Target="/ppt/slides/slide12.xml" Id="Rb23af5b2cc37404c" /><Relationship Type="http://schemas.openxmlformats.org/officeDocument/2006/relationships/slide" Target="/ppt/slides/slide13.xml" Id="Rf4467a0c8e8d43d6" /><Relationship Type="http://schemas.openxmlformats.org/officeDocument/2006/relationships/slide" Target="/ppt/slides/slide14.xml" Id="R07645064819f4faf" /><Relationship Type="http://schemas.openxmlformats.org/officeDocument/2006/relationships/slide" Target="/ppt/slides/slide15.xml" Id="R3added7f019d4f83" /><Relationship Type="http://schemas.openxmlformats.org/officeDocument/2006/relationships/slide" Target="/ppt/slides/slide16.xml" Id="R30fdb617e03f4150" /><Relationship Type="http://schemas.openxmlformats.org/officeDocument/2006/relationships/slide" Target="/ppt/slides/slide17.xml" Id="Rad45ce1850d343b1" /><Relationship Type="http://schemas.openxmlformats.org/officeDocument/2006/relationships/slide" Target="/ppt/slides/slide18.xml" Id="Rfe91d74b357645e0" /><Relationship Type="http://schemas.openxmlformats.org/officeDocument/2006/relationships/slide" Target="/ppt/slides/slide19.xml" Id="R5e48e5d5d3044d5a" /><Relationship Type="http://schemas.openxmlformats.org/officeDocument/2006/relationships/slide" Target="/ppt/slides/slide20.xml" Id="R4c790ef12cd84a7c" /><Relationship Type="http://schemas.openxmlformats.org/officeDocument/2006/relationships/slide" Target="/ppt/slides/slide21.xml" Id="R4390436b18d84194" /><Relationship Type="http://schemas.openxmlformats.org/officeDocument/2006/relationships/slide" Target="/ppt/slides/slide22.xml" Id="Rb9b1e94002e242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173cda7df342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86590e2e224fb9" /><Relationship Type="http://schemas.openxmlformats.org/officeDocument/2006/relationships/notesMaster" Target="/ppt/notesMasters/notesMaster1.xml" Id="R7d098b06158442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f1df0748ed438c" /><Relationship Type="http://schemas.openxmlformats.org/officeDocument/2006/relationships/notesMaster" Target="/ppt/notesMasters/notesMaster1.xml" Id="Ra1d403d127ff4e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dc236b74444b36" /><Relationship Type="http://schemas.openxmlformats.org/officeDocument/2006/relationships/notesMaster" Target="/ppt/notesMasters/notesMaster1.xml" Id="R9733ba869eed4c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4c86b221da42bf" /><Relationship Type="http://schemas.openxmlformats.org/officeDocument/2006/relationships/notesMaster" Target="/ppt/notesMasters/notesMaster1.xml" Id="Rcae7b258710043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ebda88ee824322" /><Relationship Type="http://schemas.openxmlformats.org/officeDocument/2006/relationships/notesMaster" Target="/ppt/notesMasters/notesMaster1.xml" Id="Rbef7f14078d741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f95748405242cb" /><Relationship Type="http://schemas.openxmlformats.org/officeDocument/2006/relationships/notesMaster" Target="/ppt/notesMasters/notesMaster1.xml" Id="R2bdb7203159a4b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47360d5287429b" /><Relationship Type="http://schemas.openxmlformats.org/officeDocument/2006/relationships/notesMaster" Target="/ppt/notesMasters/notesMaster1.xml" Id="R97f3b0f517a048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aa438614db4abd" /><Relationship Type="http://schemas.openxmlformats.org/officeDocument/2006/relationships/notesMaster" Target="/ppt/notesMasters/notesMaster1.xml" Id="R6f04599b442843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cc4c20a9394ba8" /><Relationship Type="http://schemas.openxmlformats.org/officeDocument/2006/relationships/notesMaster" Target="/ppt/notesMasters/notesMaster1.xml" Id="R2cdcb95a9c1045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0829fb120f4147" /><Relationship Type="http://schemas.openxmlformats.org/officeDocument/2006/relationships/notesMaster" Target="/ppt/notesMasters/notesMaster1.xml" Id="R4f3b51c861c447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5c96b966864c91" /><Relationship Type="http://schemas.openxmlformats.org/officeDocument/2006/relationships/notesMaster" Target="/ppt/notesMasters/notesMaster1.xml" Id="R6bccf2ead17f41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6e6d5934784c48" /><Relationship Type="http://schemas.openxmlformats.org/officeDocument/2006/relationships/notesMaster" Target="/ppt/notesMasters/notesMaster1.xml" Id="Rfed6bbbd934345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568d6da6f5437e" /><Relationship Type="http://schemas.openxmlformats.org/officeDocument/2006/relationships/notesMaster" Target="/ppt/notesMasters/notesMaster1.xml" Id="R363316400e5543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18ce484a884a81" /><Relationship Type="http://schemas.openxmlformats.org/officeDocument/2006/relationships/notesMaster" Target="/ppt/notesMasters/notesMaster1.xml" Id="R0bb78fe922be45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bd6dfe9a2c47a0" /><Relationship Type="http://schemas.openxmlformats.org/officeDocument/2006/relationships/notesMaster" Target="/ppt/notesMasters/notesMaster1.xml" Id="R767802100b664b6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14c85b7ef248f0" /><Relationship Type="http://schemas.openxmlformats.org/officeDocument/2006/relationships/notesMaster" Target="/ppt/notesMasters/notesMaster1.xml" Id="R27cebeb648e94d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96ddd5e16146b2" /><Relationship Type="http://schemas.openxmlformats.org/officeDocument/2006/relationships/notesMaster" Target="/ppt/notesMasters/notesMaster1.xml" Id="R08b39a5fc2294a8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182daaa9024ef4" /><Relationship Type="http://schemas.openxmlformats.org/officeDocument/2006/relationships/notesMaster" Target="/ppt/notesMasters/notesMaster1.xml" Id="R308542c1e8544b4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befe9f915545d1" /><Relationship Type="http://schemas.openxmlformats.org/officeDocument/2006/relationships/notesMaster" Target="/ppt/notesMasters/notesMaster1.xml" Id="R20fa2e0eb94c4a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adabf8e7c94e53" /><Relationship Type="http://schemas.openxmlformats.org/officeDocument/2006/relationships/notesMaster" Target="/ppt/notesMasters/notesMaster1.xml" Id="Rd4ffe3beecd04c0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d3035cd836c4037" /><Relationship Type="http://schemas.openxmlformats.org/officeDocument/2006/relationships/notesMaster" Target="/ppt/notesMasters/notesMaster1.xml" Id="R187b97c0c47e4d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ee82f0c512c47fd" /><Relationship Type="http://schemas.openxmlformats.org/officeDocument/2006/relationships/notesMaster" Target="/ppt/notesMasters/notesMaster1.xml" Id="R6571cee7238644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由校內教師統一帶領，學生在原座位以個人活動單作答。先詢問通學方式，不要求公開個人住址。原創 AI 插畫為教學示意，非真實校園。校內主要來源：楊梅高中-114交通安全課程模組(何友友).docx「主題內容重點」；114-2學期楊梅高中交通安全教學教案-何友友.docx「貳、陸、捌、玖」。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將校內四個原有主題整合為兩個複習重點。以「楊光梅好」諧音「陽光美好」連結青春與未來，說明安全第一是守住這一切的前提。請學生使用紙本活動單，全班依教師進度進行。校內主要來源：楊梅高中-114交通安全課程模組(何友友).docx「主題內容重點」；114-2學期楊梅高中交通安全教學教案-何友友.docx「貳、陸、捌、玖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句皆錯。先讓學生勾選，再請全班舉手回應，記下迷思，課末回看前測。不計成績。校內主要來源：楊梅高中-114交通安全課程模組(何友友).docx「主題內容重點」；114-2學期楊梅高中交通安全教學教案-何友友.docx「貳、陸、捌、玖」。 官方：https://law.moj.gov.tw/LawClass/LawAll.aspx?PCode=K0040013 https://www.thb.gov.tw/News_Content.aspx?Create=1&amp;n=12181&amp;s=258228&amp;sms=14672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教師先提出問題，再統一播放建議片段。學生記錄一項可確認事實。片段未逐秒審看，教師須先試播；無法播放改讀教案情境 A。來源：https://news.pts.org.tw/article/798519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教師示範：報導談到修法是可查證事實；個人的安全建議需要說明理由。不要將推論寫成新聞結論，亦不以新聞日期取代現行法規查核。https://news.pts.org.tw/article/798519 https://law.moj.gov.tw/LawClass/LawSingle.aspx?pcode=K0040014&amp;flno=207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現行第207條用語為「避免跨入」。等待下一輪是本課安全建議。穩定紅燈禁止進入道路。不教學生在車道上折返。來源：https://law.moj.gov.tw/LawClass/LawSingle.aspx?pcode=K0040014&amp;flno=207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教師問：行人很小心，就代表駕駛可以繼續通過嗎？答案是否。眼神接觸也不能保證對方會停車。來源：道路交通管理處罰條例第44條 https://law.moj.gov.tw/LawClass/LawAll.aspx?pcode=K0040012 校內主要來源：楊梅高中-114交通安全課程模組(何友友).docx「主題內容重點」；114-2學期楊梅高中交通安全教學教案-何友友.docx「貳、陸、捌、玖」。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個概念不同，可能同時存在。不從大型車右側鑽縫，不用固定幾公尺作安全保證，不以看到後照鏡推定駕駛看到自己。來源：https://www.thb.gov.tw/News_Content_table.aspx?n=87&amp;s=60444；守護生命：楊梅高中交通安全專題.pptx「在地安全」經查核改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年滿18歲與持有適當駕照是不同條件。普通小型車另有學習駕駛等考照資格，本課不完整介紹所有車種流程。來源：道路交通安全規則第60條 https://law.moj.gov.tw/LawClass/LawAll.aspx?PCode=K0040013 校內主要來源：楊梅高中-114交通安全課程模組(何友友).docx「主題內容重點」；114-2學期楊梅高中交通安全教學教案-何友友.docx「貳、陸、捌、玖」。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提醒學生微電車與機車不同，不得以免考照推論可載同學或任意改裝。來源：https://www.thb.gov.tw/News_Content.aspx?Create=1&amp;n=12181&amp;s=258228&amp;sms=14672；守護生命：楊梅高中交通安全專題.pptx「微型電動二輪車」。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安全帽應合格、貼合、扣妥並穩固，不照搬來源文件中的四指扣帶說法。自行車安全帽為本課安全建議，勿說成所有情境一律同樣法定強制。來源：道路交通安全規則第114、136條 https://law.moj.gov.tw/LawClass/LawAll.aspx?PCode=K0040013 校內主要來源：楊梅高中-114交通安全課程模組(何友友).docx「主題內容重點」；114-2學期楊梅高中交通安全教學教案-何友友.docx「貳、陸、捌、玖」。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教師統一播放模擬教學片段，再請學生記下一個風險。這是其他學校的教學報導，不是楊梅高中活動紀錄。本課用於觀察畫面，再由教師說明高中通學選擇。來源：https://news.pts.org.tw/article/680631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採校內教案列出的在地觀察方向，非事故熱點判定或現場勘查。實際接送位置與動線依學校公告。候車在安全區域，不從公車前後突然穿越。來源：114-2學期楊梅高中交通安全教學教案_完成版-CHAT GPT.docx「三、四大教學重點」及何友友版「陸」。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師依序讀題，讓學生先在紙上勾選。全班舉手回應，最多邀一位自願者用一句話說理由，再統一講解。每題評量安全選擇、風險與理由，各1分。校內主要來源：楊梅高中-114交通安全課程模組(何友友).docx「主題內容重點」；114-2學期楊梅高中交通安全教學教案-何友友.docx「貳、陸、捌、玖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個人作答。正確答案：B。危險徵兆：轉彎車與停放車遮蔽視線，剩餘綠燈時間有限。 教師回饋：留在人行道等下一輪穩定綠燈，收起手機。可通行時仍觀察轉彎車及遮蔽處，確認能安全穿越。駕駛仍負停讓義務。 追問：若你已經進入道路，是否要折返？ 答案：已進入道路者應儘速通過，或停於交通島，不在車道上折返。 校內主要來源：楊梅高中-114交通安全課程模組(何友友).docx「主題內容重點」；114-2學期楊梅高中交通安全教學教案-何友友.docx「貳、陸、捌、玖」。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個人作答。正確答案：C。危險徵兆：公車遮蔽視線，大型車右轉有內輪差與視野死角。 教師回饋：在安全區域停等，避開公車前後與大型車轉彎範圍。等視線清楚，再走行人穿越道並依號誌通行。觀察不到來車時先等待。 追問：看得到大型車後照鏡，是否代表駕駛看得到你？ 答案：不能如此推定，應避開車側與轉彎範圍，不用固定距離保證安全。 校內主要來源：楊梅高中-114交通安全課程模組(何友友).docx「主題內容重點」；114-2學期楊梅高中交通安全教學教案-何友友.docx「貳、陸、捌、玖」。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個人作答。正確答案：C。危險徵兆：無照騎普通重型機車，以及微電車違規載人。 教師回饋：17 歲不能考領普通重型機車駕照，不無照騎乘。微電車須滿 14 歲，掛牌、有效強制險、戴安全帽且不得載人，速率不得超過每小時 25 公里。 追問：年滿 18 歲就可以直接騎普通重型機車嗎？ 答案：仍須先考領適當駕照，並遵守停讓、速限及裝備規定。 校內主要來源：楊梅高中-114交通安全課程模組(何友友).docx「主題內容重點」；114-2學期楊梅高中交通安全教學教案-何友友.docx「貳、陸、捌、玖」。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五題各1分，4分以上為基本達成。未達者依錯題重答或口述正確行動。網站測驗可作補充，不要求學生使用手機。完整答案下一頁。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1：現行規定為尚未進入道路者避免跨入；教學建議等下一輪。已進入道路者應儘速通過，或在交通島停等。</a:t>
            </a:r>
          </a:p>
          <a:p xmlns:a="http://schemas.openxmlformats.org/drawingml/2006/main">
            <a:r>
              <a:t>2：駕駛負有停讓義務。行人觀察來車是自我保護，不會免除駕駛責任。</a:t>
            </a:r>
          </a:p>
          <a:p xmlns:a="http://schemas.openxmlformats.org/drawingml/2006/main">
            <a:r>
              <a:t>3：後輪轉彎軌跡更靠內側，且車旁有視野死角；沒有固定距離能保證安全。</a:t>
            </a:r>
          </a:p>
          <a:p xmlns:a="http://schemas.openxmlformats.org/drawingml/2006/main">
            <a:r>
              <a:t>4：考領輕型及普通重型機車駕照須年滿 18 歲；年滿 18 歲仍須考領適當駕照。</a:t>
            </a:r>
          </a:p>
          <a:p xmlns:a="http://schemas.openxmlformats.org/drawingml/2006/main">
            <a:r>
              <a:t>5：微電車免考照仍有年齡及車輛條件，速率不得超過每小時 25 公里，不可擅自改裝。</a:t>
            </a:r>
          </a:p>
          <a:p xmlns:a="http://schemas.openxmlformats.org/drawingml/2006/main">
            <a:r>
              <a:t>官方來源：道路交通安全規則 第 60、114、122、133、134、136 條 https://law.moj.gov.tw/LawClass/LawAll.aspx?PCode=K0040013</a:t>
            </a:r>
          </a:p>
          <a:p xmlns:a="http://schemas.openxmlformats.org/drawingml/2006/main">
            <a:r>
              <a:t>道路交通標誌標線號誌設置規則 第 207 條 https://law.moj.gov.tw/LawClass/LawSingle.aspx?pcode=K0040014&amp;flno=207</a:t>
            </a:r>
          </a:p>
          <a:p xmlns:a="http://schemas.openxmlformats.org/drawingml/2006/main">
            <a:r>
              <a:t>道路交通管理處罰條例 第 44、73 條 https://law.moj.gov.tw/LawClass/LawAll.aspx?pcode=K0040012</a:t>
            </a:r>
          </a:p>
          <a:p xmlns:a="http://schemas.openxmlformats.org/drawingml/2006/main">
            <a:r>
              <a:t>公路局 微型電動二輪車騎乘條件 https://www.thb.gov.tw/News_Content.aspx?Create=1&amp;n=12181&amp;s=258228&amp;sms=14672</a:t>
            </a:r>
          </a:p>
          <a:p xmlns:a="http://schemas.openxmlformats.org/drawingml/2006/main">
            <a:r>
              <a:t>公路局 大型車內輪差安全宣導 https://www.thb.gov.tw/News_Content_table.aspx?n=87&amp;s=60444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取活動單，依個人情境判斷、後測與具體承諾給回饋。請學生說明保護自己或其他用路人的理由。學習成效於授課後依實際作答填寫，不預設全班通過率。校內主要來源：楊梅高中-114交通安全課程模組(何友友).docx「主題內容重點」；114-2學期楊梅高中交通安全教學教案-何友友.docx「貳、陸、捌、玖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三題情境答案：A選B，B選C，C選C。每題安全選擇、危險徵兆、理由各1分，三題共9分，7分以上為參考標準。錯誤的危險行動須先修正。來源：本版原創教學活動。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校內來源：</a:t>
            </a:r>
          </a:p>
          <a:p xmlns:a="http://schemas.openxmlformats.org/drawingml/2006/main">
            <a:r>
              <a:t>楊梅高中-114交通安全課程模組(何友友).docx；主題內容重點、學習目標、教材來源；保留未成年通學、成年用路責任、重要法規與楊梅高中周邊安全四個主題。</a:t>
            </a:r>
          </a:p>
          <a:p xmlns:a="http://schemas.openxmlformats.org/drawingml/2006/main">
            <a:r>
              <a:t>114-2學期楊梅高中交通安全教學教案-何友友.docx；壹、貳、陸、捌、玖；採通學情境、認知情意技能目標、正向引導及差異化支持，改為教師帶領的個人練習。</a:t>
            </a:r>
          </a:p>
          <a:p xmlns:a="http://schemas.openxmlformats.org/drawingml/2006/main">
            <a:r>
              <a:t>114-2學期楊梅高中交通安全教學教案_完成版-CHAT GPT.docx；三、四大教學重點；校門、站牌與風險觀察點；參考楊梅站轉乘、高獅路校門及周邊視線遮蔽的觀察方向，採假設情境，不標成事故熱點。</a:t>
            </a:r>
          </a:p>
          <a:p xmlns:a="http://schemas.openxmlformats.org/drawingml/2006/main">
            <a:r>
              <a:t>交通安全教學簡報.pptx；教學目標、未成年校外安全守則、成年後駕駛須知；整合步行、乘車、合法騎乘及預防性駕駛觀念，依現行官方資料重新撰寫。</a:t>
            </a:r>
          </a:p>
          <a:p xmlns:a="http://schemas.openxmlformats.org/drawingml/2006/main">
            <a:r>
              <a:t>守護生命：楊梅高中交通安全專題.pptx；未成年防禦守則、微型電動二輪車、在地安全；保留微電車與大型車風險主題，重新核對法規與安全建議。</a:t>
            </a:r>
          </a:p>
          <a:p xmlns:a="http://schemas.openxmlformats.org/drawingml/2006/main">
            <a:r>
              <a:t>官方查核：</a:t>
            </a:r>
          </a:p>
          <a:p xmlns:a="http://schemas.openxmlformats.org/drawingml/2006/main">
            <a:r>
              <a:t>道路交通安全規則 第 60、114、122、133、134、136 條 https://law.moj.gov.tw/LawClass/LawAll.aspx?PCode=K0040013</a:t>
            </a:r>
          </a:p>
          <a:p xmlns:a="http://schemas.openxmlformats.org/drawingml/2006/main">
            <a:r>
              <a:t>道路交通標誌標線號誌設置規則 第 207 條 https://law.moj.gov.tw/LawClass/LawSingle.aspx?pcode=K0040014&amp;flno=207</a:t>
            </a:r>
          </a:p>
          <a:p xmlns:a="http://schemas.openxmlformats.org/drawingml/2006/main">
            <a:r>
              <a:t>道路交通管理處罰條例 第 44、73 條 https://law.moj.gov.tw/LawClass/LawAll.aspx?pcode=K0040012</a:t>
            </a:r>
          </a:p>
          <a:p xmlns:a="http://schemas.openxmlformats.org/drawingml/2006/main">
            <a:r>
              <a:t>公路局 微型電動二輪車騎乘條件 https://www.thb.gov.tw/News_Content.aspx?Create=1&amp;n=12181&amp;s=258228&amp;sms=14672</a:t>
            </a:r>
          </a:p>
          <a:p xmlns:a="http://schemas.openxmlformats.org/drawingml/2006/main">
            <a:r>
              <a:t>公路局 大型車內輪差安全宣導 https://www.thb.gov.tw/News_Content_table.aspx?n=87&amp;s=60444</a:t>
            </a:r>
          </a:p>
          <a:p xmlns:a="http://schemas.openxmlformats.org/drawingml/2006/main">
            <a:r>
              <a:t>著作權法 第 46、46之1、65 條 https://law.moj.gov.tw/LawClass/LawAll.aspx?PCode=J0070017</a:t>
            </a:r>
          </a:p>
          <a:p xmlns:a="http://schemas.openxmlformats.org/drawingml/2006/main">
            <a:r>
              <a:t>智慧財產局 課堂播放影片說明 https://www.tipo.gov.tw/tw/copyright/701-21231.html</a:t>
            </a:r>
          </a:p>
          <a:p xmlns:a="http://schemas.openxmlformats.org/drawingml/2006/main">
            <a:r>
              <a:t>楊梅高中教務處 校址與學校資訊 https://www.ymhs.tyc.edu.tw/home?cid=3460</a:t>
            </a:r>
          </a:p>
          <a:p xmlns:a="http://schemas.openxmlformats.org/drawingml/2006/main">
            <a:r>
              <a:t>桃園市交通局 道路交通安全資訊 https://traffic.tycg.gov.tw/roadsafe/</a:t>
            </a:r>
          </a:p>
          <a:p xmlns:a="http://schemas.openxmlformats.org/drawingml/2006/main">
            <a:r>
              <a:t>第三方影片權利屬原權利人，課堂使用限授課必要範圍，公開網站不重製或重新上傳。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2ec603f1246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0ac31748e40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b462b408334c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f1679e36241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9d95a7c7f4e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b4f6adf2645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059DF7-DDCD-48AC-92C9-EF00657E77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FC7C2F-B2D4-4BBF-939F-77260F0A0F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6D2C20-28A6-43FA-8F89-4A8BA9AFB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20668D-F549-4292-A390-531463B4CF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770A05-F755-43F2-96EF-643CF90D8F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0AF77B-C4D0-48AE-95CA-E9A21CFEA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DD254E-A125-4C6C-891F-CCF21241D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E0DA841-AC37-4A1B-9CAE-A71802A2F6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E8F500-2D7A-4FE8-9B99-0EB7626DF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B130C1-96EC-48F4-8753-32B43BF1B3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6752624a934a09" /><Relationship Type="http://schemas.openxmlformats.org/officeDocument/2006/relationships/slideLayout" Target="/ppt/slideLayouts/slideLayout1.xml" Id="R1e135c6bd47d4c44" /><Relationship Type="http://schemas.openxmlformats.org/officeDocument/2006/relationships/slideLayout" Target="/ppt/slideLayouts/slideLayout2.xml" Id="R219f5aca85a84627" /><Relationship Type="http://schemas.openxmlformats.org/officeDocument/2006/relationships/slideLayout" Target="/ppt/slideLayouts/slideLayout3.xml" Id="R793bec6a26cd4508" /><Relationship Type="http://schemas.openxmlformats.org/officeDocument/2006/relationships/slideLayout" Target="/ppt/slideLayouts/slideLayout4.xml" Id="Re31f66640fdc4e18" /><Relationship Type="http://schemas.openxmlformats.org/officeDocument/2006/relationships/slideLayout" Target="/ppt/slideLayouts/slideLayout5.xml" Id="R2150e1db6fe24225" /><Relationship Type="http://schemas.openxmlformats.org/officeDocument/2006/relationships/slideLayout" Target="/ppt/slideLayouts/slideLayout6.xml" Id="R76e4f3757f184d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135c6bd47d4c44"/>
    <p:sldLayoutId xmlns:r="http://schemas.openxmlformats.org/officeDocument/2006/relationships" id="2147483650" r:id="R219f5aca85a84627"/>
    <p:sldLayoutId xmlns:r="http://schemas.openxmlformats.org/officeDocument/2006/relationships" id="2147483651" r:id="R793bec6a26cd4508"/>
    <p:sldLayoutId xmlns:r="http://schemas.openxmlformats.org/officeDocument/2006/relationships" id="2147483652" r:id="Re31f66640fdc4e18"/>
    <p:sldLayoutId xmlns:r="http://schemas.openxmlformats.org/officeDocument/2006/relationships" id="2147483653" r:id="R2150e1db6fe24225"/>
    <p:sldLayoutId xmlns:r="http://schemas.openxmlformats.org/officeDocument/2006/relationships" id="2147483654" r:id="R76e4f3757f184d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f379acd5247f5" /><Relationship Type="http://schemas.openxmlformats.org/officeDocument/2006/relationships/image" Target="/ppt/media/image.png" Id="R127cbaeb52bd4528" /><Relationship Type="http://schemas.openxmlformats.org/officeDocument/2006/relationships/notesSlide" Target="/ppt/notesSlides/notesSlide1.xml" Id="Ra97a440dbcff4b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ab90ead9c442c" /><Relationship Type="http://schemas.openxmlformats.org/officeDocument/2006/relationships/notesSlide" Target="/ppt/notesSlides/notesSlide2.xml" Id="R5d1147d0852548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b9abbfbaa42e9" /><Relationship Type="http://schemas.openxmlformats.org/officeDocument/2006/relationships/notesSlide" Target="/ppt/notesSlides/notesSlide3.xml" Id="R430f48320f5348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3f4265a1842c6" /><Relationship Type="http://schemas.openxmlformats.org/officeDocument/2006/relationships/hyperlink" Target="https://www.youtube.com/watch?v=IkMxj7dcCt0&amp;t=0s" TargetMode="External" Id="R24961675c928406d" /><Relationship Type="http://schemas.openxmlformats.org/officeDocument/2006/relationships/hyperlink" Target="https://www.youtube.com/watch?v=IkMxj7dcCt0&amp;t=0s" TargetMode="External" Id="Rfe5b510c31d14587" /><Relationship Type="http://schemas.openxmlformats.org/officeDocument/2006/relationships/notesSlide" Target="/ppt/notesSlides/notesSlide4.xml" Id="R19d47b1d8a244f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7a2ff232c444d" /><Relationship Type="http://schemas.openxmlformats.org/officeDocument/2006/relationships/notesSlide" Target="/ppt/notesSlides/notesSlide5.xml" Id="R53911525790f42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a92c7a731a4f44" /><Relationship Type="http://schemas.openxmlformats.org/officeDocument/2006/relationships/notesSlide" Target="/ppt/notesSlides/notesSlide6.xml" Id="Rc2cdd05c98ba40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0a2f53a6394528" /><Relationship Type="http://schemas.openxmlformats.org/officeDocument/2006/relationships/notesSlide" Target="/ppt/notesSlides/notesSlide7.xml" Id="Rf0af1c8c126743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811eb20af41ac" /><Relationship Type="http://schemas.openxmlformats.org/officeDocument/2006/relationships/notesSlide" Target="/ppt/notesSlides/notesSlide8.xml" Id="R833c05cf5bf441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c2073ed414a47" /><Relationship Type="http://schemas.openxmlformats.org/officeDocument/2006/relationships/notesSlide" Target="/ppt/notesSlides/notesSlide9.xml" Id="Rcd8c715b378d46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8a72bb570413b" /><Relationship Type="http://schemas.openxmlformats.org/officeDocument/2006/relationships/notesSlide" Target="/ppt/notesSlides/notesSlide10.xml" Id="R1d2088c4466a4e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9c13299a0499b" /><Relationship Type="http://schemas.openxmlformats.org/officeDocument/2006/relationships/notesSlide" Target="/ppt/notesSlides/notesSlide11.xml" Id="R0776336841904f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86bff32b04377" /><Relationship Type="http://schemas.openxmlformats.org/officeDocument/2006/relationships/hyperlink" Target="https://www.youtube.com/watch?v=9jZBF0afDTo&amp;t=0s" TargetMode="External" Id="Rf7656a4ed8e84c36" /><Relationship Type="http://schemas.openxmlformats.org/officeDocument/2006/relationships/hyperlink" Target="https://www.youtube.com/watch?v=9jZBF0afDTo&amp;t=0s" TargetMode="External" Id="Rc4fa4c1cac0e4735" /><Relationship Type="http://schemas.openxmlformats.org/officeDocument/2006/relationships/notesSlide" Target="/ppt/notesSlides/notesSlide12.xml" Id="Rabc4c0630ac840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0b8357cc147f8" /><Relationship Type="http://schemas.openxmlformats.org/officeDocument/2006/relationships/notesSlide" Target="/ppt/notesSlides/notesSlide13.xml" Id="Re1c07d002c174e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e8559ba84425b" /><Relationship Type="http://schemas.openxmlformats.org/officeDocument/2006/relationships/notesSlide" Target="/ppt/notesSlides/notesSlide14.xml" Id="R1241a2b341a040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a3e76e83d04fde" /><Relationship Type="http://schemas.openxmlformats.org/officeDocument/2006/relationships/notesSlide" Target="/ppt/notesSlides/notesSlide15.xml" Id="Ref9f1691a07b4c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c942861a54194" /><Relationship Type="http://schemas.openxmlformats.org/officeDocument/2006/relationships/notesSlide" Target="/ppt/notesSlides/notesSlide16.xml" Id="Rb8c933f9471e4d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e97d239044779" /><Relationship Type="http://schemas.openxmlformats.org/officeDocument/2006/relationships/notesSlide" Target="/ppt/notesSlides/notesSlide17.xml" Id="R3b77d1b9b2084a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2358e63fd74ace" /><Relationship Type="http://schemas.openxmlformats.org/officeDocument/2006/relationships/notesSlide" Target="/ppt/notesSlides/notesSlide18.xml" Id="R02925af8269a44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b4021d686468c" /><Relationship Type="http://schemas.openxmlformats.org/officeDocument/2006/relationships/notesSlide" Target="/ppt/notesSlides/notesSlide19.xml" Id="R6834ad961c76473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8a6a455254219" /><Relationship Type="http://schemas.openxmlformats.org/officeDocument/2006/relationships/notesSlide" Target="/ppt/notesSlides/notesSlide20.xml" Id="R6aeaade634c74b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1a3217c6b4ce5" /><Relationship Type="http://schemas.openxmlformats.org/officeDocument/2006/relationships/notesSlide" Target="/ppt/notesSlides/notesSlide21.xml" Id="R4ff3dd1945eb41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847f9b0648484e" /><Relationship Type="http://schemas.openxmlformats.org/officeDocument/2006/relationships/notesSlide" Target="/ppt/notesSlides/notesSlide22.xml" Id="Rada09a55828140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71E73-A66B-4A06-8337-DB18001599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cbaeb52bd452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20CF0-EABE-41B0-8722-048A080B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5810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楊光梅好、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安全第一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96D6F-77F7-4E61-8079-A3289F5D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581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桃園市立楊梅高級中等學校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高二交通安全充實課程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教師講授與個人練習版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E4780-79D6-4D29-BA08-C6CCF391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C7D5D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7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7D5DF"/>
                </a:solidFill>
                <a:latin typeface="Microsoft JhengHei"/>
                <a:ea typeface="Microsoft JhengHei"/>
                <a:cs typeface="Microsoft JhengHei"/>
              </a:rPr>
              <a:t>原創教學示意，非真實校園</a:t>
            </a:r>
          </a:p>
        </p:txBody>
      </p:sp>
    </p:spTree>
    <p:extLst>
      <p:ext uri="{BB962C8B-B14F-4D97-AF65-F5344CB8AC3E}">
        <p14:creationId xmlns:p14="http://schemas.microsoft.com/office/powerpoint/2010/main" val="493375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3F4BD-0FFA-43CA-92E7-0A8B3E3E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課堂的兩個重點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71D24-2724-481D-9F60-0C11418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看懂路口風險：號誌、停讓與大型車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3E438-CC10-4EC1-A4AD-BBAAA45B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做出安全通學選擇：合法騎乘與用路責任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A716D-2173-4394-AD5A-B60C245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先獨立作答，再聽教師解說與修正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04B7E-319E-42BD-B18D-40EADDDC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6440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50500-FAE0-47C9-BD87-0F76EF1E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三題個人前測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91882-F0C4-4CE3-BFDC-3D229A69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綠燈時，可以完全不看轉彎車？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FCCDA-C8DD-4A1C-8AD1-273697F3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17 歲，只騎一小段普通重型機車可以？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CFDB0-841C-445E-859F-86B5CA6D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微電車免考照，所以可載同學？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C90BA-C003-4D4E-A6C2-136C758B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在活動單勾選對或錯，先保留自己的理由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8EEF7-DC0F-491E-8218-3E514E8D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2257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927CE-FE5E-4E1A-9019-6954FD1D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影片 A　行人綠燈閃光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91C6A-BD0C-4C6D-8184-F8AB5B23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還在人行道，綠燈開始閃光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B09E0-6CBB-4715-85AF-1615C7CB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朋友催你快跑，你會怎麼做？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D8A59-9ADB-4F0E-81C6-58E1E96E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24961675c928406d"/>
              </a:rPr>
              <a:t>公視新聞網　2026.03.11</a:t>
            </a:r>
          </a:p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fe5b510c31d14587"/>
              </a:rPr>
              <a:t>點選觀看新聞片段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D473B-B808-4494-9F38-020B25DC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71742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C22ED-CD97-4558-9D22-076929F8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報導事實與自己的推論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E78ED-87F6-4C24-A245-D56210B9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報導談到哪一項規定變動？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CCBC2-9A87-495C-B84F-DABDFD42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你的通行建議，有什麼理由？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32B30-A20B-45AE-A7D9-B4A9B3D2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現行條文如何描述閃光綠燈？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238DC-5BB5-482E-899F-A57ED9C7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活動單分開記錄事實與自己的判斷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B394F-6554-4E00-9A0E-6452891A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535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2169A-4E4E-42B0-A602-1F932C66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重點一　看懂路口風險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C571E-DDC3-4721-94DB-A1629E15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穩定綠燈：可穿越，仍觀察轉彎車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1E4E5-085F-4E2C-BF80-3BB005EB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閃光綠燈：未進入道路者避免跨入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D4BF4-CFEC-4A38-BDA5-C2B4B3EE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已進入道路：儘速通過，或停於交通島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76E7D-9FC4-46FB-8673-982002D4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還沒進入道路時，等待下一輪穩定綠燈較安全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D0565-0267-4B50-9DE6-F405A797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85706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37A33-5182-40CF-B28B-53C5630D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駕駛的停讓義務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6A89D-060F-4361-A449-BA325061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依法可供行人穿越的路口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75D4C-AD3B-44E6-BDD4-21E64072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有行人穿越，駕駛應暫停讓行人先通過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77F51-1D2E-46CA-B3A3-8C7E3783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行人觀察來車，是自我保護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5ACCD-094B-451D-9C5A-0F18D0B5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駕駛仍須履行停讓義務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12D1B-52EB-47B5-BAFB-C381A59A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221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43450-6514-4D6F-BF20-CD4E8154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大型車的兩種風險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29B2A-E37F-4C53-B524-209361F7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內輪差：後輪轉彎軌跡更靠內側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43A05-6A14-47DF-BCEF-CCCEBDBC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視野死角：駕駛可能看不到車旁的人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5CCDD-EC6A-492B-94AE-FCD36D4F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車側空隙，可能落在轉彎範圍內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BF7C8-9B81-4D4C-9A0C-35841E93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避開車側與轉彎範圍，安全停等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CFCAF-1790-4F88-88A6-EE416846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533340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5893A-CBE7-47C9-AB5A-203D5D4F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重點二　做出安全通學選擇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FF045-7A78-4F3C-838B-E6E43967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輕型及普通重型機車：滿 18 歲可考照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96854-866A-4018-ABC9-E070B174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上路騎乘仍須持適當駕照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1DCCF-AF51-48A7-A495-CCB6BAD9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提前觀察、依路況減速並停讓行人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5D800-3579-4D0B-9916-852B868C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拒絕酒駕、疲勞與分心駕駛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727E7-A6A5-4E06-A8B9-A43FAA79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236643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25CA1-C569-4B55-8C59-FB8018DC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微型電動二輪車的條件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C7466-1D87-473E-B1C7-745063DF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騎乘須滿 14 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D7F87-978F-4288-BDFB-E5F7318A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掛牌並有有效強制險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9AFCA-905D-4FE6-9EF7-071A83A9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戴安全帽，不得載人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3C955-7AA6-4F34-BBD1-5BC75024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005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速率不得超過每小時 25 公里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0728F-546C-4B12-B56C-5A2D2A8F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免考照仍有年齡、車輛與騎乘條件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D4971-1D9A-423E-8B42-56547DC9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78308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409FC-3DB9-4C74-A9B4-AEEE91A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騎乘與乘車的準備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91BF6-86B7-49D6-A323-9DC5B9EC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機車乘客也要正確戴妥安全帽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47601-4AF0-431B-8B68-AC8EBC9A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汽車依規定繫安全帶，公車停妥再上下車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4CBBA-B5FC-40FC-9A5C-20799D65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自行車先檢查煞車與燈具，建議戴安全帽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7A17B-2CE0-4DCE-B0DC-B0C6ADBE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候車與接送，留在安全區域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D5661-66FF-4ECF-BD0A-C3784B12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17477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B7394-4B60-43BF-8AA0-8DBD6A75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影片 B　模擬中的風險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FE766-7923-444A-8DEE-159535E8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綠燈時，哪些車仍可能與你交會？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76077-E42F-4BA9-A55E-AE47E998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畫面裡哪裡可能遮住視線？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EAC47-7061-4129-9543-8ACFB185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f7656a4ed8e84c36"/>
              </a:rPr>
              <a:t>公視新聞網　2024.02.13</a:t>
            </a:r>
          </a:p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c4fa4c1cac0e4735"/>
              </a:rPr>
              <a:t>點選觀看新聞片段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3AB03-0224-4EFE-85AD-8A8CDC8D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14770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7377D-3D39-42CB-B8E5-64B5F5C7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楊梅通學情境的觀察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AE88F-6E1C-4023-9FB9-93462C28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高獅路校門：接送車與行人動線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DC1F5-0872-4D19-9BB3-AC730C24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楊梅站轉乘：候車位置與視線遮蔽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6EEDE-EA65-49DB-A495-714E84B1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路口與夜間：號誌、照明與停等空間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64C48-3796-4B2E-84C5-C64EF78C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選一個場景，在活動單寫下環境改善建議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5F75C-9DD7-4617-BA7C-61E67A88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629331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904DC-6B61-4A59-AC94-6EC609B3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個人情境練習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C6EE6-0B87-4E85-938C-F3B308AA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三題皆在活動單獨立選答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B26C5-6509-4E59-A794-31AFDE8C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寫下一項危險徵兆與選擇理由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F7368-232F-44A9-84CB-D5393F26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聽教師解說後，修正自己的答案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5B28B-9630-45CD-B11D-D4366112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全班依教師進度完成 A、B、C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ED6E0-1DFF-49F5-A3BB-F6D14E6E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812217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9772B-D922-4776-A110-DABD6949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A 校門外的路口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40376-892F-4D97-BF5D-6EF01823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還在人行道上，綠燈閃光且轉彎車接近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B1DE9-8DC9-4FA6-95E8-D73AB12A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A　趁還有綠燈立刻跑過去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FBF87-472A-4323-9DD7-E51AA7AF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B　留在人行道，等下一輪穩定綠燈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146BE-0229-4F5C-8E7B-5361E055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005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C　只看前面的人，跟著走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2406D-EB2C-4708-B6E4-62C35148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先選答，再聽教師說明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C66CA-26B2-48FF-9E1B-6C5D7C4D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43336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98303-2606-4BFE-893C-2DC52B95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B 楊梅站轉乘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2938E-AAF2-468F-B4E1-0C8869A8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公車擋住視線，大型車準備右轉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DA49D-5D9C-4E0C-9224-57799A3A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A　趁公車還停著，立刻從車前跑過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6DBD3-27A7-41FE-9F0C-4EAD29EF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B　貼近大型車，讓駕駛看見自己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EFC24-6EE4-404A-AF2F-40D8F8AA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005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C　在安全區域停等，視線清楚後依號誌穿越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C214C-762E-47B0-BA17-91CDC719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先選答，再聽教師說明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210A8-1579-444A-86FA-D968A2B9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935278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9EC76-9B13-4E3E-A87F-875F7A8E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C 朋友借車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C035B-6888-4AD8-97D0-2CAB97BE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17 歲借機車，或改搭微電車後座？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B5082-15C2-411D-972C-B159748E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A　戴安全帽後借機車騎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C886B-CEFB-4A7E-892A-0B92D79E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B　改搭微電車後座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A9B7E-5D4B-43B2-9A9A-E8FF268C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005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C　拒絕這兩種安排，改用合法通學方式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3C851-7AD2-4835-B2E2-FFC077C3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先選答，再聽教師說明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079AB-609E-4114-9EE6-FB76D49D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031157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6DAA2-7EAE-4318-91D8-9F0D4DAD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五題個人檢核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88AA2-976C-4B20-AED3-9D37AE26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在活動單完成五題選擇題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B6840-B366-48D5-B0DC-91573E2A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每題選一個最佳答案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AD702-9BE1-4ACF-94AE-2338F9A0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先獨立作答，再核對理由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260B8-4DF5-4656-8071-353A4E4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完成後回看三題前測，修正原本的判斷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F2AF3-3B81-4377-8DE8-4F6682EB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240830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D0B17-6ABB-4AE7-A273-C491A9DC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答案與安全理由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85BC1-5AAA-4AA1-A720-CC5A9124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1B　等待下一輪穩定綠燈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15401-012B-4097-82F3-ED8A4C90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2B　駕駛暫停讓行人先通過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CB3CB-94AA-4613-B777-C5B95238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3C　避開大車轉彎範圍，安全停等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429C4-AB21-43C3-B23D-51BF82F0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4A　符合年齡並持適當駕照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F3D39-0C5E-479B-946A-A0E0F8C9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815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5C　微電車符合條件，戴帽且不載人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1414C-82C6-4CF7-A83E-59D8AECA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錯題先想原因，再寫下修正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4C0D4-E9E7-4AFD-9CD8-BC66ECEB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546961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1A017-69C0-4DDC-A529-888EE15A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楊光梅好、安全第一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AE6F8-13E3-49A5-A1F5-7E64AD74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遇到＿＿時，我會＿＿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5376E-136E-4358-AE60-F6DF4C26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因為這能保護＿＿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63E08-31D8-403C-A326-B5FC1854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把「我會小心」改成可做的動作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E3D9B-501E-43FF-BD1D-6D323C12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例如：綠燈開始閃光時，我留在人行道等下一輪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155BF-3CBE-4A59-90FC-F957A8CA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935592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3C8CE-336C-4CBD-B3A1-3E7AE343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教師備用　授課與回饋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C4AB2-B14E-495E-AA80-6184F8F2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統一出題，留出個人思考空間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3BB01-1090-4DFB-BF0D-EDC403B8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情境答錯時，先澄清再要求修正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7FE87-7D78-4426-889E-88EE4C66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影片無法播放時，改讀原創文字情境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0A2D0-8865-4478-819D-92A3B89A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詳細流程、評量及差異化支持見教師教案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3EF2C-2EDA-4CEF-B563-99677156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309926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37C37-6D1F-4A55-B4A1-98CF1801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校內來源與法規查核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D141F-ADE3-4274-818D-44AFCBB1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主要依據：校內課程模組、教案與簡報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21D93-6251-45B4-A6A6-65668B45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法規查核日：2026 年 10 月 8 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00180-1F8C-4046-ACF9-3E6F1CA7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影片採原發布者連結與原播放器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1E0D7-CBDC-4ACF-87AB-E6C3257F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2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C"/>
                </a:solidFill>
                <a:latin typeface="Microsoft JhengHei"/>
                <a:ea typeface="Microsoft JhengHei"/>
                <a:cs typeface="Microsoft JhengHei"/>
              </a:rPr>
              <a:t>完整檔案與來源對照見教師教案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FE411-49AB-44D5-B2D6-628F4FD2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02056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2026-10-08T11:36:55.6020000Z</dcterms:created>
  <dcterms:modified xsi:type="dcterms:W3CDTF">2026-10-08T11:36:55.6020000Z</dcterms:modified>
</coreProperties>
</file>