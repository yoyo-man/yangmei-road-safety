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ad14eec3544d11" /><Relationship Type="http://schemas.openxmlformats.org/officeDocument/2006/relationships/extended-properties" Target="/docProps/app.xml" Id="R154936df9d644fd0" /><Relationship Type="http://schemas.openxmlformats.org/officeDocument/2006/relationships/officeDocument" Target="/ppt/presentation.xml" Id="Rcafb833de1774b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256b3e5b62417a"/>
  </p:sldMasterIdLst>
  <p:notesMasterIdLst>
    <p:notesMasterId xmlns:r="http://schemas.openxmlformats.org/officeDocument/2006/relationships" r:id="R045f4433efc44314"/>
  </p:notesMasterIdLst>
  <p:sldIdLst>
    <p:sldId xmlns:r="http://schemas.openxmlformats.org/officeDocument/2006/relationships" id="256" r:id="Rae763890dc98452e"/>
    <p:sldId xmlns:r="http://schemas.openxmlformats.org/officeDocument/2006/relationships" id="257" r:id="R72a8adfd3c654769"/>
    <p:sldId xmlns:r="http://schemas.openxmlformats.org/officeDocument/2006/relationships" id="258" r:id="R5867d2cfef8e4347"/>
    <p:sldId xmlns:r="http://schemas.openxmlformats.org/officeDocument/2006/relationships" id="259" r:id="Rdbaeecca57814abf"/>
    <p:sldId xmlns:r="http://schemas.openxmlformats.org/officeDocument/2006/relationships" id="260" r:id="R5cc94a88d3b846a3"/>
    <p:sldId xmlns:r="http://schemas.openxmlformats.org/officeDocument/2006/relationships" id="261" r:id="Re482f0d4f97d4116"/>
    <p:sldId xmlns:r="http://schemas.openxmlformats.org/officeDocument/2006/relationships" id="262" r:id="Rf1b2bb3b576d4e4c"/>
    <p:sldId xmlns:r="http://schemas.openxmlformats.org/officeDocument/2006/relationships" id="263" r:id="R3999c038f1a744f8"/>
    <p:sldId xmlns:r="http://schemas.openxmlformats.org/officeDocument/2006/relationships" id="264" r:id="R62853bf7693c4656"/>
    <p:sldId xmlns:r="http://schemas.openxmlformats.org/officeDocument/2006/relationships" id="265" r:id="R937656d09ca44323"/>
    <p:sldId xmlns:r="http://schemas.openxmlformats.org/officeDocument/2006/relationships" id="266" r:id="R734644b05571410c"/>
    <p:sldId xmlns:r="http://schemas.openxmlformats.org/officeDocument/2006/relationships" id="267" r:id="R27810131240341e0"/>
    <p:sldId xmlns:r="http://schemas.openxmlformats.org/officeDocument/2006/relationships" id="268" r:id="Rf824ae0b9b15470f"/>
    <p:sldId xmlns:r="http://schemas.openxmlformats.org/officeDocument/2006/relationships" id="269" r:id="Re2616a3d13b44f7c"/>
    <p:sldId xmlns:r="http://schemas.openxmlformats.org/officeDocument/2006/relationships" id="270" r:id="R29c390b3d24d4ef9"/>
    <p:sldId xmlns:r="http://schemas.openxmlformats.org/officeDocument/2006/relationships" id="271" r:id="R559987fedf394318"/>
    <p:sldId xmlns:r="http://schemas.openxmlformats.org/officeDocument/2006/relationships" id="272" r:id="R9b887bfe9f9d4559"/>
    <p:sldId xmlns:r="http://schemas.openxmlformats.org/officeDocument/2006/relationships" id="273" r:id="R85115526344f4bc3"/>
    <p:sldId xmlns:r="http://schemas.openxmlformats.org/officeDocument/2006/relationships" id="274" r:id="R2b25474a4d3041a5"/>
    <p:sldId xmlns:r="http://schemas.openxmlformats.org/officeDocument/2006/relationships" id="275" r:id="R98a4bd94f7dd4a42"/>
    <p:sldId xmlns:r="http://schemas.openxmlformats.org/officeDocument/2006/relationships" id="276" r:id="R0f7f0bc4ef524cfe"/>
    <p:sldId xmlns:r="http://schemas.openxmlformats.org/officeDocument/2006/relationships" id="277" r:id="R4ec00370e60047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124a7c98e14c53" /><Relationship Type="http://schemas.openxmlformats.org/officeDocument/2006/relationships/slideMaster" Target="/ppt/slideMasters/slideMaster1.xml" Id="R43256b3e5b62417a" /><Relationship Type="http://schemas.openxmlformats.org/officeDocument/2006/relationships/notesMaster" Target="/ppt/notesMasters/notesMaster1.xml" Id="R045f4433efc44314" /><Relationship Type="http://schemas.openxmlformats.org/officeDocument/2006/relationships/presProps" Target="/ppt/presProps.xml" Id="R8b0124625dfd4036" /><Relationship Type="http://schemas.openxmlformats.org/officeDocument/2006/relationships/tableStyles" Target="/ppt/tableStyles.xml" Id="Rd8d26513e9b64f8c" /><Relationship Type="http://schemas.openxmlformats.org/officeDocument/2006/relationships/slide" Target="/ppt/slides/slide1.xml" Id="Rae763890dc98452e" /><Relationship Type="http://schemas.openxmlformats.org/officeDocument/2006/relationships/slide" Target="/ppt/slides/slide2.xml" Id="R72a8adfd3c654769" /><Relationship Type="http://schemas.openxmlformats.org/officeDocument/2006/relationships/slide" Target="/ppt/slides/slide3.xml" Id="R5867d2cfef8e4347" /><Relationship Type="http://schemas.openxmlformats.org/officeDocument/2006/relationships/slide" Target="/ppt/slides/slide4.xml" Id="Rdbaeecca57814abf" /><Relationship Type="http://schemas.openxmlformats.org/officeDocument/2006/relationships/slide" Target="/ppt/slides/slide5.xml" Id="R5cc94a88d3b846a3" /><Relationship Type="http://schemas.openxmlformats.org/officeDocument/2006/relationships/slide" Target="/ppt/slides/slide6.xml" Id="Re482f0d4f97d4116" /><Relationship Type="http://schemas.openxmlformats.org/officeDocument/2006/relationships/slide" Target="/ppt/slides/slide7.xml" Id="Rf1b2bb3b576d4e4c" /><Relationship Type="http://schemas.openxmlformats.org/officeDocument/2006/relationships/slide" Target="/ppt/slides/slide8.xml" Id="R3999c038f1a744f8" /><Relationship Type="http://schemas.openxmlformats.org/officeDocument/2006/relationships/slide" Target="/ppt/slides/slide9.xml" Id="R62853bf7693c4656" /><Relationship Type="http://schemas.openxmlformats.org/officeDocument/2006/relationships/slide" Target="/ppt/slides/slide10.xml" Id="R937656d09ca44323" /><Relationship Type="http://schemas.openxmlformats.org/officeDocument/2006/relationships/slide" Target="/ppt/slides/slide11.xml" Id="R734644b05571410c" /><Relationship Type="http://schemas.openxmlformats.org/officeDocument/2006/relationships/slide" Target="/ppt/slides/slide12.xml" Id="R27810131240341e0" /><Relationship Type="http://schemas.openxmlformats.org/officeDocument/2006/relationships/slide" Target="/ppt/slides/slide13.xml" Id="Rf824ae0b9b15470f" /><Relationship Type="http://schemas.openxmlformats.org/officeDocument/2006/relationships/slide" Target="/ppt/slides/slide14.xml" Id="Re2616a3d13b44f7c" /><Relationship Type="http://schemas.openxmlformats.org/officeDocument/2006/relationships/slide" Target="/ppt/slides/slide15.xml" Id="R29c390b3d24d4ef9" /><Relationship Type="http://schemas.openxmlformats.org/officeDocument/2006/relationships/slide" Target="/ppt/slides/slide16.xml" Id="R559987fedf394318" /><Relationship Type="http://schemas.openxmlformats.org/officeDocument/2006/relationships/slide" Target="/ppt/slides/slide17.xml" Id="R9b887bfe9f9d4559" /><Relationship Type="http://schemas.openxmlformats.org/officeDocument/2006/relationships/slide" Target="/ppt/slides/slide18.xml" Id="R85115526344f4bc3" /><Relationship Type="http://schemas.openxmlformats.org/officeDocument/2006/relationships/slide" Target="/ppt/slides/slide19.xml" Id="R2b25474a4d3041a5" /><Relationship Type="http://schemas.openxmlformats.org/officeDocument/2006/relationships/slide" Target="/ppt/slides/slide20.xml" Id="R98a4bd94f7dd4a42" /><Relationship Type="http://schemas.openxmlformats.org/officeDocument/2006/relationships/slide" Target="/ppt/slides/slide21.xml" Id="R0f7f0bc4ef524cfe" /><Relationship Type="http://schemas.openxmlformats.org/officeDocument/2006/relationships/slide" Target="/ppt/slides/slide22.xml" Id="R4ec00370e60047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d59f9c1dea4d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25c12059424a3e" /><Relationship Type="http://schemas.openxmlformats.org/officeDocument/2006/relationships/notesMaster" Target="/ppt/notesMasters/notesMaster1.xml" Id="R76cb94f85c1c44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fa4f7017ac4996" /><Relationship Type="http://schemas.openxmlformats.org/officeDocument/2006/relationships/notesMaster" Target="/ppt/notesMasters/notesMaster1.xml" Id="R43909a12b0fe4e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4b5267be5442fc" /><Relationship Type="http://schemas.openxmlformats.org/officeDocument/2006/relationships/notesMaster" Target="/ppt/notesMasters/notesMaster1.xml" Id="Rb181563c52904b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dda3368b7d42d1" /><Relationship Type="http://schemas.openxmlformats.org/officeDocument/2006/relationships/notesMaster" Target="/ppt/notesMasters/notesMaster1.xml" Id="Rbcda485fc23046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34a48bb57a4727" /><Relationship Type="http://schemas.openxmlformats.org/officeDocument/2006/relationships/notesMaster" Target="/ppt/notesMasters/notesMaster1.xml" Id="R1fe186056f6a4a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d71ac6bf8f47ac" /><Relationship Type="http://schemas.openxmlformats.org/officeDocument/2006/relationships/notesMaster" Target="/ppt/notesMasters/notesMaster1.xml" Id="Rf8bc3a2b9d3047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f63f66a32445d3" /><Relationship Type="http://schemas.openxmlformats.org/officeDocument/2006/relationships/notesMaster" Target="/ppt/notesMasters/notesMaster1.xml" Id="Re3583610812a4b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6230f0c6534ef5" /><Relationship Type="http://schemas.openxmlformats.org/officeDocument/2006/relationships/notesMaster" Target="/ppt/notesMasters/notesMaster1.xml" Id="R3ba9db9ae2a74c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b540a33e824722" /><Relationship Type="http://schemas.openxmlformats.org/officeDocument/2006/relationships/notesMaster" Target="/ppt/notesMasters/notesMaster1.xml" Id="Rd5da205430e64e8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9149392c6be4a54" /><Relationship Type="http://schemas.openxmlformats.org/officeDocument/2006/relationships/notesMaster" Target="/ppt/notesMasters/notesMaster1.xml" Id="R19e60e39c8484cd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4616368e5f4a0d" /><Relationship Type="http://schemas.openxmlformats.org/officeDocument/2006/relationships/notesMaster" Target="/ppt/notesMasters/notesMaster1.xml" Id="R172d53d4a0e5436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34cda6e646c4887" /><Relationship Type="http://schemas.openxmlformats.org/officeDocument/2006/relationships/notesMaster" Target="/ppt/notesMasters/notesMaster1.xml" Id="R5af47799d1bb428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cd0bfc700d5404b" /><Relationship Type="http://schemas.openxmlformats.org/officeDocument/2006/relationships/notesMaster" Target="/ppt/notesMasters/notesMaster1.xml" Id="R4ccae3c8f18b4d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c90f33c015140fe" /><Relationship Type="http://schemas.openxmlformats.org/officeDocument/2006/relationships/notesMaster" Target="/ppt/notesMasters/notesMaster1.xml" Id="R69140868e1ec40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8ef65986ecf401b" /><Relationship Type="http://schemas.openxmlformats.org/officeDocument/2006/relationships/notesMaster" Target="/ppt/notesMasters/notesMaster1.xml" Id="Re4f888984ca143d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51ba3ce283340d3" /><Relationship Type="http://schemas.openxmlformats.org/officeDocument/2006/relationships/notesMaster" Target="/ppt/notesMasters/notesMaster1.xml" Id="R463785d90cbf45b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fba1a8259e545ec" /><Relationship Type="http://schemas.openxmlformats.org/officeDocument/2006/relationships/notesMaster" Target="/ppt/notesMasters/notesMaster1.xml" Id="R469ecbb53be14ce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1968d54b7cf4795" /><Relationship Type="http://schemas.openxmlformats.org/officeDocument/2006/relationships/notesMaster" Target="/ppt/notesMasters/notesMaster1.xml" Id="R3c3768d2d7ea44e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b47382306fe42cd" /><Relationship Type="http://schemas.openxmlformats.org/officeDocument/2006/relationships/notesMaster" Target="/ppt/notesMasters/notesMaster1.xml" Id="Re2d3c58e6f36465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e28a099513b4bef" /><Relationship Type="http://schemas.openxmlformats.org/officeDocument/2006/relationships/notesMaster" Target="/ppt/notesMasters/notesMaster1.xml" Id="Rd4151c6579c949f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f4238b7e3af470d" /><Relationship Type="http://schemas.openxmlformats.org/officeDocument/2006/relationships/notesMaster" Target="/ppt/notesMasters/notesMaster1.xml" Id="R78c5f37d5506421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dda1a9d365b4764" /><Relationship Type="http://schemas.openxmlformats.org/officeDocument/2006/relationships/notesMaster" Target="/ppt/notesMasters/notesMaster1.xml" Id="Rb920f26b11874a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由校內教師統一帶領，學生在原座位以個人活動單作答。先詢問通學方式，不要求公開個人住址。原創 AI 插畫為教學示意，非真實校園。校內主要來源：楊梅高中-114交通安全課程模組(何友友).docx「主題內容重點」；114-2學期楊梅高中交通安全教學教案-何友友.docx「貳、陸、捌、玖」。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校內教材四個重點，其中法規與在地安全融入前兩個主題。請學生使用紙本活動單，全班依教師進度進行。校內主要來源：楊梅高中-114交通安全課程模組(何友友).docx「主題內容重點」；114-2學期楊梅高中交通安全教學教案-何友友.docx「貳、陸、捌、玖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句皆錯。先讓學生勾選，再請全班舉手回應，記下迷思，課末回看前測。不計成績。校內主要來源：楊梅高中-114交通安全課程模組(何友友).docx「主題內容重點」；114-2學期楊梅高中交通安全教學教案-何友友.docx「貳、陸、捌、玖」。 官方：https://law.moj.gov.tw/LawClass/LawAll.aspx?PCode=K0040013 https://www.thb.gov.tw/News_Content.aspx?Create=1&amp;n=12181&amp;s=258228&amp;sms=14672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教師先提出問題，再統一播放建議片段。學生記錄一項可確認事實。片段未逐秒審看，教師須先試播；無法播放改讀教案情境 A。來源：https://news.pts.org.tw/article/798519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教師示範：報導談到修法是可查證事實；個人的安全建議需要說明理由。不要將推論寫成新聞結論，亦不以新聞日期取代現行法規查核。https://news.pts.org.tw/article/798519 https://law.moj.gov.tw/LawClass/LawSingle.aspx?pcode=K0040014&amp;flno=207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現行第207條用語為「避免跨入」。等待下一輪是本課安全建議。穩定紅燈禁止進入道路。不教學生在車道上折返。來源：https://law.moj.gov.tw/LawClass/LawSingle.aspx?pcode=K0040014&amp;flno=207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教師問：行人很小心，就代表駕駛可以繼續通過嗎？答案是否。眼神接觸也不能保證對方會停車。來源：道路交通管理處罰條例第44條 https://law.moj.gov.tw/LawClass/LawAll.aspx?pcode=K0040012 校內主要來源：楊梅高中-114交通安全課程模組(何友友).docx「主題內容重點」；114-2學期楊梅高中交通安全教學教案-何友友.docx「貳、陸、捌、玖」。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兩個概念不同，可能同時存在。不從大型車右側鑽縫，不用固定幾公尺作安全保證，不以看到後照鏡推定駕駛看到自己。來源：https://www.thb.gov.tw/News_Content_table.aspx?n=87&amp;s=60444；守護生命：楊梅高中交通安全專題.pptx「在地安全」經查核改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年滿18歲與持有適當駕照是不同條件。普通小型車另有學習駕駛等考照資格，本課不完整介紹所有車種流程。來源：道路交通安全規則第60條 https://law.moj.gov.tw/LawClass/LawAll.aspx?PCode=K0040013 校內主要來源：楊梅高中-114交通安全課程模組(何友友).docx「主題內容重點」；114-2學期楊梅高中交通安全教學教案-何友友.docx「貳、陸、捌、玖」。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提醒學生微電車與機車不同，不得以免考照推論可載同學或任意改裝。來源：https://www.thb.gov.tw/News_Content.aspx?Create=1&amp;n=12181&amp;s=258228&amp;sms=14672；守護生命：楊梅高中交通安全專題.pptx「微型電動二輪車」。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安全帽應合格、貼合、扣妥並穩固，不照搬來源文件中的四指扣帶說法。自行車安全帽為本課安全建議，勿說成所有情境一律同樣法定強制。來源：道路交通安全規則第114、136條 https://law.moj.gov.tw/LawClass/LawAll.aspx?PCode=K0040013 校內主要來源：楊梅高中-114交通安全課程模組(何友友).docx「主題內容重點」；114-2學期楊梅高中交通安全教學教案-何友友.docx「貳、陸、捌、玖」。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教師統一播放模擬教學片段，再請學生記下一個風險。這是其他學校的教學報導，不是楊梅高中活動紀錄。本課用於觀察畫面，再由教師說明高中通學選擇。來源：https://news.pts.org.tw/article/680631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採校內教案列出的在地觀察方向，非事故熱點判定或現場勘查。實際接送位置與動線依學校公告。候車在安全區域，不從公車前後突然穿越。來源：114-2學期楊梅高中交通安全教學教案_完成版-CHAT GPT.docx「三、四大教學重點」及何友友版「陸」。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師依序讀題，讓學生先在紙上勾選。全班舉手回應，最多邀一位自願者用一句話說理由，再統一講解。每題評量安全選擇、風險與理由，各1分。校內主要來源：楊梅高中-114交通安全課程模組(何友友).docx「主題內容重點」；114-2學期楊梅高中交通安全教學教案-何友友.docx「貳、陸、捌、玖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個人作答。正確答案：B。危險徵兆：轉彎車與停放車遮蔽視線，剩餘綠燈時間有限。 教師回饋：留在人行道等下一輪穩定綠燈，收起手機。可通行時仍觀察轉彎車及遮蔽處，確認能安全穿越。駕駛仍負停讓義務。 追問：若你已經進入道路，是否要折返？ 答案：已進入道路者應儘速通過，或停於交通島，不在車道上折返。 校內主要來源：楊梅高中-114交通安全課程模組(何友友).docx「主題內容重點」；114-2學期楊梅高中交通安全教學教案-何友友.docx「貳、陸、捌、玖」。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個人作答。正確答案：C。危險徵兆：公車遮蔽視線，大型車右轉有內輪差與視野死角。 教師回饋：在安全區域停等，避開公車前後與大型車轉彎範圍。等視線清楚，再走行人穿越道並依號誌通行。觀察不到來車時先等待。 追問：看得到大型車後照鏡，是否代表駕駛看得到你？ 答案：不能如此推定，應避開車側與轉彎範圍，不用固定距離保證安全。 校內主要來源：楊梅高中-114交通安全課程模組(何友友).docx「主題內容重點」；114-2學期楊梅高中交通安全教學教案-何友友.docx「貳、陸、捌、玖」。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個人作答。正確答案：C。危險徵兆：無照騎普通重型機車，以及微電車違規載人。 教師回饋：17 歲不能考領普通重型機車駕照，不無照騎乘。微電車須滿 14 歲，掛牌、有效強制險、戴安全帽且不得載人，速率不得超過每小時 25 公里。 追問：年滿 18 歲就可以直接騎普通重型機車嗎？ 答案：仍須先考領適當駕照，並遵守停讓、速限及裝備規定。 校內主要來源：楊梅高中-114交通安全課程模組(何友友).docx「主題內容重點」；114-2學期楊梅高中交通安全教學教案-何友友.docx「貳、陸、捌、玖」。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五題各1分，4分以上為基本達成。未達者依錯題重答或口述正確行動。網站測驗可作補充，不要求學生使用手機。完整答案下一頁。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1：現行規定為尚未進入道路者避免跨入；教學建議等下一輪。已進入道路者應儘速通過，或在交通島停等。</a:t>
            </a:r>
          </a:p>
          <a:p xmlns:a="http://schemas.openxmlformats.org/drawingml/2006/main">
            <a:r>
              <a:t>2：駕駛負有停讓義務。行人觀察來車是自我保護，不會免除駕駛責任。</a:t>
            </a:r>
          </a:p>
          <a:p xmlns:a="http://schemas.openxmlformats.org/drawingml/2006/main">
            <a:r>
              <a:t>3：後輪轉彎軌跡更靠內側，且車旁有視野死角；沒有固定距離能保證安全。</a:t>
            </a:r>
          </a:p>
          <a:p xmlns:a="http://schemas.openxmlformats.org/drawingml/2006/main">
            <a:r>
              <a:t>4：考領輕型及普通重型機車駕照須年滿 18 歲；年滿 18 歲仍須考領適當駕照。</a:t>
            </a:r>
          </a:p>
          <a:p xmlns:a="http://schemas.openxmlformats.org/drawingml/2006/main">
            <a:r>
              <a:t>5：微電車免考照仍有年齡及車輛條件，速率不得超過每小時 25 公里，不可擅自改裝。</a:t>
            </a:r>
          </a:p>
          <a:p xmlns:a="http://schemas.openxmlformats.org/drawingml/2006/main">
            <a:r>
              <a:t>官方來源：道路交通安全規則 第 60、114、122、133、134、136 條 https://law.moj.gov.tw/LawClass/LawAll.aspx?PCode=K0040013</a:t>
            </a:r>
          </a:p>
          <a:p xmlns:a="http://schemas.openxmlformats.org/drawingml/2006/main">
            <a:r>
              <a:t>道路交通標誌標線號誌設置規則 第 207 條 https://law.moj.gov.tw/LawClass/LawSingle.aspx?pcode=K0040014&amp;flno=207</a:t>
            </a:r>
          </a:p>
          <a:p xmlns:a="http://schemas.openxmlformats.org/drawingml/2006/main">
            <a:r>
              <a:t>道路交通管理處罰條例 第 44、73 條 https://law.moj.gov.tw/LawClass/LawAll.aspx?pcode=K0040012</a:t>
            </a:r>
          </a:p>
          <a:p xmlns:a="http://schemas.openxmlformats.org/drawingml/2006/main">
            <a:r>
              <a:t>公路局 微型電動二輪車騎乘條件 https://www.thb.gov.tw/News_Content.aspx?Create=1&amp;n=12181&amp;s=258228&amp;sms=14672</a:t>
            </a:r>
          </a:p>
          <a:p xmlns:a="http://schemas.openxmlformats.org/drawingml/2006/main">
            <a:r>
              <a:t>公路局 大型車內輪差安全宣導 https://www.thb.gov.tw/News_Content_table.aspx?n=87&amp;s=60444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取活動單，依個人情境判斷、後測與具體承諾給回饋。請學生說明保護自己或其他用路人的理由。學習成效於授課後依實際作答填寫，不預設全班通過率。校內主要來源：楊梅高中-114交通安全課程模組(何友友).docx「主題內容重點」；114-2學期楊梅高中交通安全教學教案-何友友.docx「貳、陸、捌、玖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三題情境答案：A選B，B選C，C選C。每題安全選擇、危險徵兆、理由各1分，三題共9分，7分以上為參考標準。錯誤的危險行動須先修正。來源：本版原創教學活動。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校內來源：</a:t>
            </a:r>
          </a:p>
          <a:p xmlns:a="http://schemas.openxmlformats.org/drawingml/2006/main">
            <a:r>
              <a:t>楊梅高中-114交通安全課程模組(何友友).docx；主題內容重點、學習目標、教材來源；保留未成年通學、成年用路責任、重要法規與楊梅高中周邊安全四個主題。</a:t>
            </a:r>
          </a:p>
          <a:p xmlns:a="http://schemas.openxmlformats.org/drawingml/2006/main">
            <a:r>
              <a:t>114-2學期楊梅高中交通安全教學教案-何友友.docx；壹、貳、陸、捌、玖；採通學情境、認知情意技能目標、正向引導及差異化支持，改為教師帶領的個人練習。</a:t>
            </a:r>
          </a:p>
          <a:p xmlns:a="http://schemas.openxmlformats.org/drawingml/2006/main">
            <a:r>
              <a:t>114-2學期楊梅高中交通安全教學教案_完成版-CHAT GPT.docx；三、四大教學重點；校門、站牌與風險觀察點；參考楊梅站轉乘、高獅路校門及周邊視線遮蔽的觀察方向，採假設情境，不標成事故熱點。</a:t>
            </a:r>
          </a:p>
          <a:p xmlns:a="http://schemas.openxmlformats.org/drawingml/2006/main">
            <a:r>
              <a:t>交通安全教學簡報.pptx；教學目標、未成年校外安全守則、成年後駕駛須知；整合步行、乘車、合法騎乘及預防性駕駛觀念，依現行官方資料重新撰寫。</a:t>
            </a:r>
          </a:p>
          <a:p xmlns:a="http://schemas.openxmlformats.org/drawingml/2006/main">
            <a:r>
              <a:t>守護生命：楊梅高中交通安全專題.pptx；未成年防禦守則、微型電動二輪車、在地安全；保留微電車與大型車風險主題，重新核對法規與安全建議。</a:t>
            </a:r>
          </a:p>
          <a:p xmlns:a="http://schemas.openxmlformats.org/drawingml/2006/main">
            <a:r>
              <a:t>官方查核：</a:t>
            </a:r>
          </a:p>
          <a:p xmlns:a="http://schemas.openxmlformats.org/drawingml/2006/main">
            <a:r>
              <a:t>道路交通安全規則 第 60、114、122、133、134、136 條 https://law.moj.gov.tw/LawClass/LawAll.aspx?PCode=K0040013</a:t>
            </a:r>
          </a:p>
          <a:p xmlns:a="http://schemas.openxmlformats.org/drawingml/2006/main">
            <a:r>
              <a:t>道路交通標誌標線號誌設置規則 第 207 條 https://law.moj.gov.tw/LawClass/LawSingle.aspx?pcode=K0040014&amp;flno=207</a:t>
            </a:r>
          </a:p>
          <a:p xmlns:a="http://schemas.openxmlformats.org/drawingml/2006/main">
            <a:r>
              <a:t>道路交通管理處罰條例 第 44、73 條 https://law.moj.gov.tw/LawClass/LawAll.aspx?pcode=K0040012</a:t>
            </a:r>
          </a:p>
          <a:p xmlns:a="http://schemas.openxmlformats.org/drawingml/2006/main">
            <a:r>
              <a:t>公路局 微型電動二輪車騎乘條件 https://www.thb.gov.tw/News_Content.aspx?Create=1&amp;n=12181&amp;s=258228&amp;sms=14672</a:t>
            </a:r>
          </a:p>
          <a:p xmlns:a="http://schemas.openxmlformats.org/drawingml/2006/main">
            <a:r>
              <a:t>公路局 大型車內輪差安全宣導 https://www.thb.gov.tw/News_Content_table.aspx?n=87&amp;s=60444</a:t>
            </a:r>
          </a:p>
          <a:p xmlns:a="http://schemas.openxmlformats.org/drawingml/2006/main">
            <a:r>
              <a:t>著作權法 第 46、46之1、65 條 https://law.moj.gov.tw/LawClass/LawAll.aspx?PCode=J0070017</a:t>
            </a:r>
          </a:p>
          <a:p xmlns:a="http://schemas.openxmlformats.org/drawingml/2006/main">
            <a:r>
              <a:t>智慧財產局 課堂播放影片說明 https://www.tipo.gov.tw/tw/copyright/701-21231.html</a:t>
            </a:r>
          </a:p>
          <a:p xmlns:a="http://schemas.openxmlformats.org/drawingml/2006/main">
            <a:r>
              <a:t>楊梅高中教務處 校址與學校資訊 https://www.ymhs.tyc.edu.tw/home?cid=3460</a:t>
            </a:r>
          </a:p>
          <a:p xmlns:a="http://schemas.openxmlformats.org/drawingml/2006/main">
            <a:r>
              <a:t>桃園市交通局 道路交通安全資訊 https://traffic.tycg.gov.tw/roadsafe/</a:t>
            </a:r>
          </a:p>
          <a:p xmlns:a="http://schemas.openxmlformats.org/drawingml/2006/main">
            <a:r>
              <a:t>第三方影片權利屬原權利人，課堂使用限授課必要範圍，公開網站不重製或重新上傳。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b8e242856476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11639ffb2f404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48ada78989430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cc0a3f3827464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716dc22e3148d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98e89427f941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869E73-E16B-4F70-A4D0-57FB455961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A7BD7D2-EE98-47E7-AB5F-5372D5D5D8F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D9030A4-0082-48B5-B102-EBF94263EC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BF596F-8033-43B4-BA7D-1C3C54A3CB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C25E995-6C36-4A0B-B72B-4A25460F20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74AF69-7162-4ABE-80CE-212E1CB2DF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8FE3ACF-D209-456A-8177-DF5B255B76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C6D0765-34F1-4F31-AE33-5252D9222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E77ECB-C7FC-49D5-87E7-3F14D225E0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34B4B07-49F5-4632-9828-AA49C17A1B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1436f3ea7b46a8" /><Relationship Type="http://schemas.openxmlformats.org/officeDocument/2006/relationships/slideLayout" Target="/ppt/slideLayouts/slideLayout1.xml" Id="R2b329c6c900f4695" /><Relationship Type="http://schemas.openxmlformats.org/officeDocument/2006/relationships/slideLayout" Target="/ppt/slideLayouts/slideLayout2.xml" Id="Re0f4496e61be4899" /><Relationship Type="http://schemas.openxmlformats.org/officeDocument/2006/relationships/slideLayout" Target="/ppt/slideLayouts/slideLayout3.xml" Id="R2850af83d46a4479" /><Relationship Type="http://schemas.openxmlformats.org/officeDocument/2006/relationships/slideLayout" Target="/ppt/slideLayouts/slideLayout4.xml" Id="R13ea6641ec39464c" /><Relationship Type="http://schemas.openxmlformats.org/officeDocument/2006/relationships/slideLayout" Target="/ppt/slideLayouts/slideLayout5.xml" Id="Re7921ae4a4b34cab" /><Relationship Type="http://schemas.openxmlformats.org/officeDocument/2006/relationships/slideLayout" Target="/ppt/slideLayouts/slideLayout6.xml" Id="R9cd54dd34d1d41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329c6c900f4695"/>
    <p:sldLayoutId xmlns:r="http://schemas.openxmlformats.org/officeDocument/2006/relationships" id="2147483650" r:id="Re0f4496e61be4899"/>
    <p:sldLayoutId xmlns:r="http://schemas.openxmlformats.org/officeDocument/2006/relationships" id="2147483651" r:id="R2850af83d46a4479"/>
    <p:sldLayoutId xmlns:r="http://schemas.openxmlformats.org/officeDocument/2006/relationships" id="2147483652" r:id="R13ea6641ec39464c"/>
    <p:sldLayoutId xmlns:r="http://schemas.openxmlformats.org/officeDocument/2006/relationships" id="2147483653" r:id="Re7921ae4a4b34cab"/>
    <p:sldLayoutId xmlns:r="http://schemas.openxmlformats.org/officeDocument/2006/relationships" id="2147483654" r:id="R9cd54dd34d1d41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a85185f05e4329" /><Relationship Type="http://schemas.openxmlformats.org/officeDocument/2006/relationships/image" Target="/ppt/media/image.png" Id="R387998e82d8d4a30" /><Relationship Type="http://schemas.openxmlformats.org/officeDocument/2006/relationships/notesSlide" Target="/ppt/notesSlides/notesSlide1.xml" Id="R5de55a135ae64d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6e5d400a394fed" /><Relationship Type="http://schemas.openxmlformats.org/officeDocument/2006/relationships/notesSlide" Target="/ppt/notesSlides/notesSlide2.xml" Id="R61f514132afc4d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e9925ca84c4ec6" /><Relationship Type="http://schemas.openxmlformats.org/officeDocument/2006/relationships/notesSlide" Target="/ppt/notesSlides/notesSlide3.xml" Id="Rfee6e0b52f514c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856c014a314973" /><Relationship Type="http://schemas.openxmlformats.org/officeDocument/2006/relationships/hyperlink" Target="https://www.youtube.com/watch?v=IkMxj7dcCt0&amp;t=0s" TargetMode="External" Id="R4690889b43e74df3" /><Relationship Type="http://schemas.openxmlformats.org/officeDocument/2006/relationships/hyperlink" Target="https://www.youtube.com/watch?v=IkMxj7dcCt0&amp;t=0s" TargetMode="External" Id="Rac1ddf2da4ff4cc2" /><Relationship Type="http://schemas.openxmlformats.org/officeDocument/2006/relationships/notesSlide" Target="/ppt/notesSlides/notesSlide4.xml" Id="Ra4d9c470403a4e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56943bb3c94f5f" /><Relationship Type="http://schemas.openxmlformats.org/officeDocument/2006/relationships/notesSlide" Target="/ppt/notesSlides/notesSlide5.xml" Id="Rfe9200a344bf4a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4c45b5a79441c1" /><Relationship Type="http://schemas.openxmlformats.org/officeDocument/2006/relationships/notesSlide" Target="/ppt/notesSlides/notesSlide6.xml" Id="Rbf0310896e4141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5ec32d90804c6b" /><Relationship Type="http://schemas.openxmlformats.org/officeDocument/2006/relationships/notesSlide" Target="/ppt/notesSlides/notesSlide7.xml" Id="R7d7c10a1b9c04a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54989d42af43a7" /><Relationship Type="http://schemas.openxmlformats.org/officeDocument/2006/relationships/notesSlide" Target="/ppt/notesSlides/notesSlide8.xml" Id="R4b704a22e41049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273f81c4eb4794" /><Relationship Type="http://schemas.openxmlformats.org/officeDocument/2006/relationships/notesSlide" Target="/ppt/notesSlides/notesSlide9.xml" Id="R9fe4a7ecb62b47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9e3807cd61420b" /><Relationship Type="http://schemas.openxmlformats.org/officeDocument/2006/relationships/notesSlide" Target="/ppt/notesSlides/notesSlide10.xml" Id="R2c6cd4f9d4904a9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c797d414ce45a8" /><Relationship Type="http://schemas.openxmlformats.org/officeDocument/2006/relationships/notesSlide" Target="/ppt/notesSlides/notesSlide11.xml" Id="R3a7ffec162ca4c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0d773d4c2243db" /><Relationship Type="http://schemas.openxmlformats.org/officeDocument/2006/relationships/hyperlink" Target="https://www.youtube.com/watch?v=9jZBF0afDTo&amp;t=0s" TargetMode="External" Id="R96d566eaef5d4e96" /><Relationship Type="http://schemas.openxmlformats.org/officeDocument/2006/relationships/hyperlink" Target="https://www.youtube.com/watch?v=9jZBF0afDTo&amp;t=0s" TargetMode="External" Id="R1a4aca81a33f4a8f" /><Relationship Type="http://schemas.openxmlformats.org/officeDocument/2006/relationships/notesSlide" Target="/ppt/notesSlides/notesSlide12.xml" Id="R3d3bad4402ff4c0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90ff7b82ce4e32" /><Relationship Type="http://schemas.openxmlformats.org/officeDocument/2006/relationships/notesSlide" Target="/ppt/notesSlides/notesSlide13.xml" Id="R367cdc3c3cce4bf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38b7e5e78b4e4b" /><Relationship Type="http://schemas.openxmlformats.org/officeDocument/2006/relationships/notesSlide" Target="/ppt/notesSlides/notesSlide14.xml" Id="Re22faa15e5194f9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0731ae36f94bff" /><Relationship Type="http://schemas.openxmlformats.org/officeDocument/2006/relationships/notesSlide" Target="/ppt/notesSlides/notesSlide15.xml" Id="R3866e20b203c4ca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0e9d1b362049ff" /><Relationship Type="http://schemas.openxmlformats.org/officeDocument/2006/relationships/notesSlide" Target="/ppt/notesSlides/notesSlide16.xml" Id="Rbeb08722bd73444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c55e7a1dc64b4e" /><Relationship Type="http://schemas.openxmlformats.org/officeDocument/2006/relationships/notesSlide" Target="/ppt/notesSlides/notesSlide17.xml" Id="Rabe4109d3fac42d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5a6ce7b5064fd1" /><Relationship Type="http://schemas.openxmlformats.org/officeDocument/2006/relationships/notesSlide" Target="/ppt/notesSlides/notesSlide18.xml" Id="Raa51e53e02f84a7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1cb108313b4846" /><Relationship Type="http://schemas.openxmlformats.org/officeDocument/2006/relationships/notesSlide" Target="/ppt/notesSlides/notesSlide19.xml" Id="R506305e811e1413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2bd30a3bcc41a0" /><Relationship Type="http://schemas.openxmlformats.org/officeDocument/2006/relationships/notesSlide" Target="/ppt/notesSlides/notesSlide20.xml" Id="R80f67272c109460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cdeccb81d844b8" /><Relationship Type="http://schemas.openxmlformats.org/officeDocument/2006/relationships/notesSlide" Target="/ppt/notesSlides/notesSlide21.xml" Id="Rffe2cc88846d46a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3caf2731c4465c" /><Relationship Type="http://schemas.openxmlformats.org/officeDocument/2006/relationships/notesSlide" Target="/ppt/notesSlides/notesSlide22.xml" Id="R50e9feb59d2448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8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3935E1-8182-4F5E-98C6-CA5FED17C2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7998e82d8d4a3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9C47B2-9FF5-4C05-870A-AA8F31F4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002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放學路上的</a:t>
            </a:r>
          </a:p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安全選擇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A63FE-71B6-42CC-B502-12751F7B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5715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楊梅高中交通安全充實課程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教師講授與個人練習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2BE66-8D45-4C42-ADE1-BBFCA4C4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C7D5D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C7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C7D5DF"/>
                </a:solidFill>
                <a:latin typeface="Microsoft JhengHei"/>
                <a:ea typeface="Microsoft JhengHei"/>
                <a:cs typeface="Microsoft JhengHei"/>
              </a:rPr>
              <a:t>原創教學示意，非真實校園</a:t>
            </a:r>
          </a:p>
        </p:txBody>
      </p:sp>
    </p:spTree>
    <p:extLst>
      <p:ext uri="{BB962C8B-B14F-4D97-AF65-F5344CB8AC3E}">
        <p14:creationId xmlns:p14="http://schemas.microsoft.com/office/powerpoint/2010/main" val="8221325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23EB70-FFFD-4C90-AF9E-83C4895E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今天的交通安全重點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52F8DF-4D26-4C67-B7BD-21CDDFAA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未成年通學者的安全選擇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DD91FF-4FA3-4BD1-A6D1-9D43B4DC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成年後的駕駛責任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B287E-275D-4800-AD19-0B5CE38D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重要法規與楊梅高中周邊通學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4481E0-034F-4F1D-A7BA-74D9D98FD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先獨立作答，再聽教師解說與修正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45ED18-7E4E-4B14-ACA7-A652D307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863876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B4B07E-7CE1-418A-AA7C-2CB6E6F4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三題個人前測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B429B1-62EA-4216-A493-BFEB1BE1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綠燈時，可以完全不看轉彎車？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A84F0-E6E5-4BB0-9C53-1C6E994D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17 歲，只騎一小段普通重型機車可以？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F3DDA7-2202-4FF4-BC40-DD3A0B9A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微電車免考照，所以可載同學？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54CAC-84A6-46D9-A694-18AF57DB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在活動單勾選對或錯，先保留自己的理由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464B3E-7F9F-4117-84AA-C4D696D5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925976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AC5201-6722-4643-AB0B-8856D220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影片 A　行人綠燈閃光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2AF702-DC26-4F9D-A16A-FDDB5F81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還在人行道，綠燈開始閃光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BA1BF8-7ECF-49F7-9245-DC0B3D097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朋友催你快跑，你會怎麼做？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3CB4A-6E29-4BB3-97E6-87798132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4690889b43e74df3"/>
              </a:rPr>
              <a:t>公視新聞網　2026.03.11</a:t>
            </a:r>
          </a:p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ac1ddf2da4ff4cc2"/>
              </a:rPr>
              <a:t>點選觀看新聞片段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9BE66E-FB90-4C13-BFA7-114A8E57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100331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541550-5338-4960-9752-C26E35EA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報導事實與自己的推論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3ED6DA-FA58-44E0-9C7B-5BF7B7C7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報導談到哪一項規定變動？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0C745C-2872-4D13-8F83-72D9FB9D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你的通行建議，有什麼理由？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60DFEF-93A4-4657-AE35-7E06EEDD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現行條文如何描述閃光綠燈？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5E139E-C61E-422D-98E3-9ECE238F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活動單分開記錄事實與自己的判斷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82D507-11C8-42A2-94BA-A2F73888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562926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3A53B4-B285-4BB2-873D-2CF02AEC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行人號誌與穿越選擇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172EAA-47DE-4C97-990A-C5FA19E9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穩定綠燈：可穿越，仍觀察轉彎車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C4F86-F222-49B9-AE17-185EA0B4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閃光綠燈：未進入道路者避免跨入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888B2B-C536-45C8-A899-19158FC4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已進入道路：儘速通過，或停於交通島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E6FAD-1A1D-4085-A2BC-6CC285F9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還沒進入道路時，等待下一輪穩定綠燈較安全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5FC3B-4C43-4951-8CE4-C559FC1E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745142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67DFD-E9B1-4471-8A90-A359B9F6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駕駛的停讓義務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7D7D58-AF78-4219-85AE-51B7EBC4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依法可供行人穿越的路口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5F4F21-26D9-4353-BE65-88C48CAA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有行人穿越，駕駛應暫停讓行人先通過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F9C124-E582-4A98-8B84-335F6A48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行人觀察來車，是自我保護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DA6B5D-F19A-4425-B892-E1811BA2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駕駛仍須履行停讓義務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E889CA-7301-4056-8D04-B430C31B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351492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5F86F-4687-42A5-90DA-EF3DD26C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大型車的兩種風險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AAAAC6-D4F9-4982-85E2-3A29C20A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內輪差：後輪轉彎軌跡更靠內側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D98A35-1BE8-422F-A735-327B4068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視野死角：駕駛可能看不到車旁的人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CD9168-A8FB-4B80-AB70-73F4313F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車側空隙，可能落在轉彎範圍內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D75854-4453-4DEC-8198-86CF2AA2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避開車側與轉彎範圍，安全停等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E78C19-A8CA-4161-8F0A-7D2241DE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131134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FD918A-993A-45A5-9320-6432C561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成年後的用路責任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294E8-6A1C-42B3-8B51-2EC49B09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輕型及普通重型機車：滿 18 歲可考照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37A035-CDD4-4ABC-A2D0-BB83DAC8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上路騎乘仍須持適當駕照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B15E4-C432-47C5-B4E5-32374E39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提前觀察、依路況減速並停讓行人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C464C8-8B56-4446-9AD4-D94B4E7B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拒絕酒駕、疲勞與分心駕駛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CA84D4-C481-4C36-A346-08449715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230815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3B4C7-E340-41FF-A3F0-9D5E5379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微型電動二輪車的條件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CF3F2-06F6-45D1-8846-E7FFE66D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騎乘須滿 14 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3FB29-DFE3-4317-9AF5-22F77924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241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掛牌並有有效強制險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6A1CB-981F-4F5F-A93C-CCED8F33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623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戴安全帽，不得載人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E1FBAA-A2CA-412B-A722-CBA5CBD4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005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速率不得超過每小時 25 公里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D54654-D4A9-47E2-9731-282B6DF2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免考照仍有年齡、車輛與騎乘條件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CF32B9-67E2-43D4-9B4C-0D23EBEA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169058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33FC59-C239-4F7B-98C2-0A5598FA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騎乘與乘車的準備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6DB89-C921-484F-A74E-61378CBD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機車乘客也要正確戴妥安全帽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EC8E9-BA67-4BBE-A682-22A21AFB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汽車依規定繫安全帶，公車停妥再上下車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997124-DEE3-4FF0-B535-64AFA3A5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自行車先檢查煞車與燈具，建議戴安全帽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9E70B1-11FA-4C61-9C77-34D936F5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候車與接送，留在安全區域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9A3966-2970-421C-B6AE-AE559679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519719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F6D03C-FA40-48C9-82A4-BDBC42EF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影片 B　模擬中的風險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8B7E0-E3EA-4512-8A2B-4F5D56A4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綠燈時，哪些車仍可能與你交會？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220C54-2F78-487A-96D4-54006F1B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畫面裡哪裡可能遮住視線？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2F3CF-D879-4458-B79C-524BFFC0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96d566eaef5d4e96"/>
              </a:rPr>
              <a:t>公視新聞網　2024.02.13</a:t>
            </a:r>
          </a:p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1a4aca81a33f4a8f"/>
              </a:rPr>
              <a:t>點選觀看新聞片段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64F394-1D34-4ACD-934F-7C61586B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824552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041EEB-F321-4F36-AD73-FE7F6F50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楊梅通學情境的觀察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BD1C31-EA08-40B4-816D-24040C49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高獅路校門：接送車與行人動線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5D6CA-2E3B-4C6F-AE00-412F7E66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楊梅站轉乘：候車位置與視線遮蔽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A95E3A-9814-424C-8855-47A7B1DF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路口與夜間：號誌、照明與停等空間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92B7C1-3EBB-4B1D-9615-52CA22AA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選一個場景，在活動單寫下環境改善建議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E00580-6CFE-4977-8D71-8CEEB7E6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4016120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BE07AF-316B-474C-9A0C-DDE48A65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個人情境練習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186D0D-19D9-4887-8C89-A3BB680E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三題皆在活動單獨立選答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21AE3F-0F95-45E0-820B-3C1B035B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寫下一項危險徵兆與選擇理由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2E5091-FE13-4263-AB4A-A563D28A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聽教師解說後，修正自己的答案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37BF2-2C31-4051-91C6-DBEE0A52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全班依教師進度完成 A、B、C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C8C20E-371E-488B-8568-F0FF233D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4472627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75826C-84D4-4FC7-A158-941E9676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A 校門外的路口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465198-D10E-4515-B32A-82EBD6B3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還在人行道上，綠燈閃光且轉彎車接近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4B14DB-0401-4236-8554-781D3A1D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241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A　趁還有綠燈立刻跑過去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75E2C-7EA5-416F-BA9C-6F67884E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623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B　留在人行道，等下一輪穩定綠燈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D2246D-829C-4B21-9EED-CE7A01E2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005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C　只看前面的人，跟著走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E03B0C-6566-4BC8-B4BE-E4F87059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先選答，再聽教師說明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422C0A-B781-494D-8E02-52C020F7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90823629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C605B4-A5D9-4324-9D0C-C8C4DB0A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B 楊梅站轉乘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B52F2-EA75-4DFC-919C-02A5B425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公車擋住視線，大型車準備右轉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957959-880F-4D38-B80E-28BAA6D7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241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A　趁公車還停著，立刻從車前跑過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295E70-2838-4756-AB46-6D888BE7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623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B　貼近大型車，讓駕駛看見自己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D384B-C7EB-42CF-AA29-303474A6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005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C　在安全區域停等，視線清楚後依號誌穿越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46B9E7-8A85-409D-B5DC-364CB675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先選答，再聽教師說明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34AA9B-9AF7-4DE4-9A6A-37EAE0DF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1521456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69A2D3-AFCE-4653-AFE1-8A5D0C9D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C 朋友借車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84BCAF-1EFE-4086-8F47-00454AC6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17 歲借機車，或改搭微電車後座？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69FF36-59F9-442B-B0EA-83F1AE79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241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A　戴安全帽後借機車騎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0DCD3-B543-4C33-969D-A8A8C9A6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623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B　改搭微電車後座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B63F0-80FB-4784-AB8F-5252034C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005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C　拒絕這兩種安排，改用合法通學方式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4428C8-E60D-4532-9451-DA91ECFE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先選答，再聽教師說明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315218-884B-4452-8675-31174D6A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4138528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9E9D36-15AC-4F76-BE38-7696B6A0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五題個人檢核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23028-8416-4371-8F60-3CDEDDE2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在活動單完成五題選擇題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71AEDA-1CBB-4F6B-BBD1-B1299B40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每題選一個最佳答案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FA026-1734-48EC-AE49-3D6CBCC9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先獨立作答，再核對理由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DE361C-6467-45FC-9E21-DC54D193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完成後回看三題前測，修正原本的判斷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8EEC89-4A4B-4B84-A1CA-5842F5C6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1704251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D32D32-6344-4E66-9154-9E231860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答案與安全理由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445A8-8F34-4779-92C9-AA639432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1B　等待下一輪穩定綠燈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E24D72-04E0-4DA9-865F-A86689F9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98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2B　駕駛暫停讓行人先通過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0B48C7-1711-4DC5-9FC3-6CE638AF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337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3C　避開大車轉彎範圍，安全停等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EDCAC7-31A0-4C54-8174-3802AD21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576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4A　符合年齡並持適當駕照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A750A-DE1C-44BC-93E6-E4C7FFBF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81550"/>
            <a:ext cx="10715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5C　微電車符合條件，戴帽且不載人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CC9957-06D5-4BBA-93DA-062DD31C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錯題先想原因，再寫下修正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961A84-28A0-4BD7-A073-F9FA24F2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69990480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726B76-A6DA-493A-BA6B-E79DCDF4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今天放學的具體行動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3D4992-6600-4885-94D0-221B739B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遇到＿＿時，我會＿＿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75F558-51DA-496A-AD29-4B242589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因為這能保護＿＿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4C984A-AD1A-4894-817F-63F6557D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把「我會小心」改成可做的動作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4EB73B-B779-44AC-BB7E-6BFA1195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例如：綠燈開始閃光時，我留在人行道等下一輪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90B73-9951-4D20-9FA3-E237427B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6565860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6CDD84-6C14-4B1D-B4DE-18119B8D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教師備用　授課與回饋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69741-C066-4D70-9CC9-D2389968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統一出題，留出個人思考空間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FCF252-4BD6-496C-A20E-4C2D5327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情境答錯時，先澄清再要求修正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754596-9EE8-4802-BC83-68F33CB2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影片無法播放時，改讀原創文字情境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4C59A7-D683-49C0-BC3E-2F2918DC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詳細流程、評量及差異化支持見教師教案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B96FE6-5F62-458D-8C04-287162CB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3559695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38CF36-9529-47F9-80CB-E1AEF9B0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1081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校內來源與法規查核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BA3B6F-0424-47E6-89DF-42CFA83C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859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主要依據：校內課程模組、教案與簡報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CA196A-1338-421C-9F67-E16EACAA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法規查核日：2026 年 10 月 8 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D1F0A8-A6B1-4BDA-9F0A-90F59691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43350"/>
            <a:ext cx="1071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0">
                <a:solidFill>
                  <a:srgbClr val="10283E"/>
                </a:solidFill>
                <a:latin typeface="Microsoft JhengHei"/>
                <a:ea typeface="Microsoft JhengHei"/>
                <a:cs typeface="Microsoft JhengHei"/>
              </a:rPr>
              <a:t>影片採原發布者連結與原播放器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B3B00-08D8-49BD-AB7A-96E82E21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429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C"/>
                </a:solidFill>
                <a:latin typeface="Microsoft JhengHei"/>
                <a:ea typeface="Microsoft JhengHei"/>
                <a:cs typeface="Microsoft JhengHei"/>
              </a:rPr>
              <a:t>完整檔案與來源對照見教師教案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3ED62-6DF4-4041-863F-1FBF0875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33412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5D7180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664770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2026-10-08T10:56:01.9320000Z</dcterms:created>
  <dcterms:modified xsi:type="dcterms:W3CDTF">2026-10-08T10:56:01.9320000Z</dcterms:modified>
</coreProperties>
</file>